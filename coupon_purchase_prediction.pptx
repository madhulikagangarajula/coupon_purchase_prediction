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Roboto"/>
      <p:regular r:id="rId17"/>
      <p:bold r:id="rId18"/>
      <p:italic r:id="rId19"/>
      <p:boldItalic r:id="rId20"/>
    </p:embeddedFont>
    <p:embeddedFont>
      <p:font typeface="Sorts Mill Goudy"/>
      <p:regular r:id="rId21"/>
      <p: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3" roundtripDataSignature="AMtx7mjMWwil6OH7sCE/QfukDWtX0b1I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7.xml"/><Relationship Id="rId22" Type="http://schemas.openxmlformats.org/officeDocument/2006/relationships/font" Target="fonts/SortsMillGoudy-italic.fntdata"/><Relationship Id="rId10" Type="http://schemas.openxmlformats.org/officeDocument/2006/relationships/slide" Target="slides/slide6.xml"/><Relationship Id="rId21" Type="http://schemas.openxmlformats.org/officeDocument/2006/relationships/font" Target="fonts/SortsMillGoudy-regular.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italic.fntdata"/><Relationship Id="rId6" Type="http://schemas.openxmlformats.org/officeDocument/2006/relationships/slide" Target="slides/slide2.xml"/><Relationship Id="rId18"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38c18aa5c8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38c18aa5c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1d435956c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1d435956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38c18aa5c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38c18aa5c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38c18aa5c8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38c18aa5c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2107200" y="1096965"/>
            <a:ext cx="7977600" cy="2085696"/>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4800"/>
              <a:buFont typeface="Sorts Mill Goud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3216000" y="3945771"/>
            <a:ext cx="5760000" cy="1832730"/>
          </a:xfrm>
          <a:prstGeom prst="rect">
            <a:avLst/>
          </a:prstGeom>
          <a:noFill/>
          <a:ln>
            <a:noFill/>
          </a:ln>
        </p:spPr>
        <p:txBody>
          <a:bodyPr anchorCtr="0" anchor="t" bIns="45700" lIns="91425" spcFirstLastPara="1" rIns="91425" wrap="square" tIns="45700">
            <a:normAutofit/>
          </a:bodyPr>
          <a:lstStyle>
            <a:lvl1pPr lvl="0" algn="ctr">
              <a:lnSpc>
                <a:spcPct val="125000"/>
              </a:lnSpc>
              <a:spcBef>
                <a:spcPts val="1000"/>
              </a:spcBef>
              <a:spcAft>
                <a:spcPts val="0"/>
              </a:spcAft>
              <a:buSzPts val="2400"/>
              <a:buNone/>
              <a:defRPr i="0" sz="2400"/>
            </a:lvl1pPr>
            <a:lvl2pPr lvl="1" algn="ctr">
              <a:lnSpc>
                <a:spcPct val="150000"/>
              </a:lnSpc>
              <a:spcBef>
                <a:spcPts val="500"/>
              </a:spcBef>
              <a:spcAft>
                <a:spcPts val="0"/>
              </a:spcAft>
              <a:buClr>
                <a:schemeClr val="dk1"/>
              </a:buClr>
              <a:buSzPts val="2000"/>
              <a:buFont typeface="Avenir"/>
              <a:buNone/>
              <a:defRPr sz="2000"/>
            </a:lvl2pPr>
            <a:lvl3pPr lvl="2" algn="ctr">
              <a:lnSpc>
                <a:spcPct val="150000"/>
              </a:lnSpc>
              <a:spcBef>
                <a:spcPts val="500"/>
              </a:spcBef>
              <a:spcAft>
                <a:spcPts val="0"/>
              </a:spcAft>
              <a:buSzPts val="1800"/>
              <a:buNone/>
              <a:defRPr sz="1800"/>
            </a:lvl3pPr>
            <a:lvl4pPr lvl="3" algn="ctr">
              <a:lnSpc>
                <a:spcPct val="150000"/>
              </a:lnSpc>
              <a:spcBef>
                <a:spcPts val="500"/>
              </a:spcBef>
              <a:spcAft>
                <a:spcPts val="0"/>
              </a:spcAft>
              <a:buSzPts val="1600"/>
              <a:buFont typeface="Avenir"/>
              <a:buNone/>
              <a:defRPr sz="1600"/>
            </a:lvl4pPr>
            <a:lvl5pPr lvl="4" algn="ctr">
              <a:lnSpc>
                <a:spcPct val="15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0"/>
          <p:cNvCxnSpPr/>
          <p:nvPr/>
        </p:nvCxnSpPr>
        <p:spPr>
          <a:xfrm>
            <a:off x="5826000" y="3525773"/>
            <a:ext cx="540000" cy="0"/>
          </a:xfrm>
          <a:prstGeom prst="straightConnector1">
            <a:avLst/>
          </a:prstGeom>
          <a:noFill/>
          <a:ln cap="flat" cmpd="sng" w="12700">
            <a:solidFill>
              <a:srgbClr val="FFFFFF"/>
            </a:solidFill>
            <a:prstDash val="solid"/>
            <a:round/>
            <a:headEnd len="sm" w="sm" type="none"/>
            <a:tailEnd len="sm" w="sm" type="none"/>
          </a:ln>
        </p:spPr>
      </p:cxnSp>
      <p:grpSp>
        <p:nvGrpSpPr>
          <p:cNvPr id="18" name="Google Shape;18;p10"/>
          <p:cNvGrpSpPr/>
          <p:nvPr/>
        </p:nvGrpSpPr>
        <p:grpSpPr>
          <a:xfrm rot="2700000">
            <a:off x="10127693" y="4178240"/>
            <a:ext cx="633413" cy="1862138"/>
            <a:chOff x="5959192" y="333389"/>
            <a:chExt cx="633413" cy="1862138"/>
          </a:xfrm>
        </p:grpSpPr>
        <p:grpSp>
          <p:nvGrpSpPr>
            <p:cNvPr id="19" name="Google Shape;19;p10"/>
            <p:cNvGrpSpPr/>
            <p:nvPr/>
          </p:nvGrpSpPr>
          <p:grpSpPr>
            <a:xfrm>
              <a:off x="5959192" y="333389"/>
              <a:ext cx="633413" cy="1419225"/>
              <a:chOff x="5959192" y="333389"/>
              <a:chExt cx="633413" cy="1419225"/>
            </a:xfrm>
          </p:grpSpPr>
          <p:sp>
            <p:nvSpPr>
              <p:cNvPr id="20" name="Google Shape;20;p10"/>
              <p:cNvSpPr/>
              <p:nvPr/>
            </p:nvSpPr>
            <p:spPr>
              <a:xfrm>
                <a:off x="5959192" y="333389"/>
                <a:ext cx="319088" cy="1419225"/>
              </a:xfrm>
              <a:custGeom>
                <a:rect b="b" l="l" r="r" t="t"/>
                <a:pathLst>
                  <a:path extrusionOk="0" h="298" w="67">
                    <a:moveTo>
                      <a:pt x="0" y="149"/>
                    </a:moveTo>
                    <a:cubicBezTo>
                      <a:pt x="0" y="208"/>
                      <a:pt x="26" y="261"/>
                      <a:pt x="67" y="298"/>
                    </a:cubicBezTo>
                    <a:cubicBezTo>
                      <a:pt x="67" y="0"/>
                      <a:pt x="67" y="0"/>
                      <a:pt x="67" y="0"/>
                    </a:cubicBezTo>
                    <a:cubicBezTo>
                      <a:pt x="26" y="36"/>
                      <a:pt x="0" y="89"/>
                      <a:pt x="0" y="149"/>
                    </a:cubicBezTo>
                    <a:close/>
                  </a:path>
                </a:pathLst>
              </a:custGeom>
              <a:gradFill>
                <a:gsLst>
                  <a:gs pos="0">
                    <a:srgbClr val="FFFFFF">
                      <a:alpha val="80000"/>
                    </a:srgbClr>
                  </a:gs>
                  <a:gs pos="100000">
                    <a:srgbClr val="FFFFFF">
                      <a:alpha val="20000"/>
                    </a:srgbClr>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21" name="Google Shape;21;p10"/>
              <p:cNvSpPr/>
              <p:nvPr/>
            </p:nvSpPr>
            <p:spPr>
              <a:xfrm>
                <a:off x="6278280" y="333389"/>
                <a:ext cx="314325" cy="1419225"/>
              </a:xfrm>
              <a:custGeom>
                <a:rect b="b" l="l" r="r" t="t"/>
                <a:pathLst>
                  <a:path extrusionOk="0" h="298" w="66">
                    <a:moveTo>
                      <a:pt x="0" y="0"/>
                    </a:moveTo>
                    <a:cubicBezTo>
                      <a:pt x="0" y="298"/>
                      <a:pt x="0" y="298"/>
                      <a:pt x="0" y="298"/>
                    </a:cubicBezTo>
                    <a:cubicBezTo>
                      <a:pt x="41" y="261"/>
                      <a:pt x="66" y="208"/>
                      <a:pt x="66" y="149"/>
                    </a:cubicBezTo>
                    <a:cubicBezTo>
                      <a:pt x="66" y="89"/>
                      <a:pt x="41" y="36"/>
                      <a:pt x="0" y="0"/>
                    </a:cubicBezTo>
                    <a:close/>
                  </a:path>
                </a:pathLst>
              </a:custGeom>
              <a:gradFill>
                <a:gsLst>
                  <a:gs pos="0">
                    <a:srgbClr val="FFFFFF">
                      <a:alpha val="80000"/>
                    </a:srgbClr>
                  </a:gs>
                  <a:gs pos="100000">
                    <a:srgbClr val="FFFFFF">
                      <a:alpha val="9803"/>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pSp>
        <p:cxnSp>
          <p:nvCxnSpPr>
            <p:cNvPr id="22" name="Google Shape;22;p10"/>
            <p:cNvCxnSpPr/>
            <p:nvPr/>
          </p:nvCxnSpPr>
          <p:spPr>
            <a:xfrm rot="10800000">
              <a:off x="6278280" y="333389"/>
              <a:ext cx="0" cy="1862138"/>
            </a:xfrm>
            <a:prstGeom prst="straightConnector1">
              <a:avLst/>
            </a:prstGeom>
            <a:noFill/>
            <a:ln cap="flat" cmpd="sng" w="12700">
              <a:solidFill>
                <a:srgbClr val="FFFFFF"/>
              </a:solidFill>
              <a:prstDash val="solid"/>
              <a:miter lim="800000"/>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1"/>
          <p:cNvSpPr txBox="1"/>
          <p:nvPr>
            <p:ph type="title"/>
          </p:nvPr>
        </p:nvSpPr>
        <p:spPr>
          <a:xfrm>
            <a:off x="989400" y="395289"/>
            <a:ext cx="10213200" cy="11128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1"/>
          <p:cNvSpPr txBox="1"/>
          <p:nvPr>
            <p:ph idx="1" type="body"/>
          </p:nvPr>
        </p:nvSpPr>
        <p:spPr>
          <a:xfrm>
            <a:off x="989400" y="1685925"/>
            <a:ext cx="10213200" cy="4040191"/>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1"/>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1"/>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12"/>
          <p:cNvSpPr txBox="1"/>
          <p:nvPr>
            <p:ph type="title"/>
          </p:nvPr>
        </p:nvSpPr>
        <p:spPr>
          <a:xfrm>
            <a:off x="989400" y="395289"/>
            <a:ext cx="10213200" cy="11128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2"/>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2"/>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3"/>
          <p:cNvSpPr txBox="1"/>
          <p:nvPr>
            <p:ph type="title"/>
          </p:nvPr>
        </p:nvSpPr>
        <p:spPr>
          <a:xfrm>
            <a:off x="990000" y="2305800"/>
            <a:ext cx="4636800" cy="2246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800"/>
              <a:buFont typeface="Sorts Mill Goud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3"/>
          <p:cNvSpPr txBox="1"/>
          <p:nvPr>
            <p:ph idx="1" type="body"/>
          </p:nvPr>
        </p:nvSpPr>
        <p:spPr>
          <a:xfrm>
            <a:off x="6565250" y="2305800"/>
            <a:ext cx="4636800" cy="2246400"/>
          </a:xfrm>
          <a:prstGeom prst="rect">
            <a:avLst/>
          </a:prstGeom>
          <a:noFill/>
          <a:ln>
            <a:noFill/>
          </a:ln>
        </p:spPr>
        <p:txBody>
          <a:bodyPr anchorCtr="0" anchor="ctr" bIns="45700" lIns="91425" spcFirstLastPara="1" rIns="91425" wrap="square" tIns="45700">
            <a:normAutofit/>
          </a:bodyPr>
          <a:lstStyle>
            <a:lvl1pPr indent="-228600" lvl="0" marL="457200" algn="ctr">
              <a:lnSpc>
                <a:spcPct val="125000"/>
              </a:lnSpc>
              <a:spcBef>
                <a:spcPts val="1000"/>
              </a:spcBef>
              <a:spcAft>
                <a:spcPts val="0"/>
              </a:spcAft>
              <a:buSzPts val="2400"/>
              <a:buNone/>
              <a:defRPr i="1" sz="2400">
                <a:solidFill>
                  <a:schemeClr val="dk1"/>
                </a:solidFill>
              </a:defRPr>
            </a:lvl1pPr>
            <a:lvl2pPr indent="-228600" lvl="1" marL="914400" algn="l">
              <a:lnSpc>
                <a:spcPct val="150000"/>
              </a:lnSpc>
              <a:spcBef>
                <a:spcPts val="500"/>
              </a:spcBef>
              <a:spcAft>
                <a:spcPts val="0"/>
              </a:spcAft>
              <a:buClr>
                <a:srgbClr val="888888"/>
              </a:buClr>
              <a:buSzPts val="2000"/>
              <a:buFont typeface="Avenir"/>
              <a:buNone/>
              <a:defRPr sz="2000">
                <a:solidFill>
                  <a:srgbClr val="888888"/>
                </a:solidFill>
              </a:defRPr>
            </a:lvl2pPr>
            <a:lvl3pPr indent="-228600" lvl="2" marL="1371600" algn="l">
              <a:lnSpc>
                <a:spcPct val="150000"/>
              </a:lnSpc>
              <a:spcBef>
                <a:spcPts val="500"/>
              </a:spcBef>
              <a:spcAft>
                <a:spcPts val="0"/>
              </a:spcAft>
              <a:buSzPts val="1800"/>
              <a:buNone/>
              <a:defRPr sz="1800">
                <a:solidFill>
                  <a:srgbClr val="888888"/>
                </a:solidFill>
              </a:defRPr>
            </a:lvl3pPr>
            <a:lvl4pPr indent="-228600" lvl="3" marL="1828800" algn="l">
              <a:lnSpc>
                <a:spcPct val="150000"/>
              </a:lnSpc>
              <a:spcBef>
                <a:spcPts val="500"/>
              </a:spcBef>
              <a:spcAft>
                <a:spcPts val="0"/>
              </a:spcAft>
              <a:buSzPts val="1600"/>
              <a:buFont typeface="Avenir"/>
              <a:buNone/>
              <a:defRPr sz="1600">
                <a:solidFill>
                  <a:srgbClr val="888888"/>
                </a:solidFill>
              </a:defRPr>
            </a:lvl4pPr>
            <a:lvl5pPr indent="-228600" lvl="4" marL="2286000" algn="l">
              <a:lnSpc>
                <a:spcPct val="15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3"/>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3"/>
          <p:cNvSpPr/>
          <p:nvPr/>
        </p:nvSpPr>
        <p:spPr>
          <a:xfrm>
            <a:off x="1437136" y="649304"/>
            <a:ext cx="340415" cy="340415"/>
          </a:xfrm>
          <a:prstGeom prst="ellipse">
            <a:avLst/>
          </a:prstGeom>
          <a:gradFill>
            <a:gsLst>
              <a:gs pos="0">
                <a:srgbClr val="FFFFFF">
                  <a:alpha val="80000"/>
                </a:srgbClr>
              </a:gs>
              <a:gs pos="100000">
                <a:srgbClr val="FFFFFF">
                  <a:alpha val="9803"/>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grpSp>
        <p:nvGrpSpPr>
          <p:cNvPr id="41" name="Google Shape;41;p13"/>
          <p:cNvGrpSpPr/>
          <p:nvPr/>
        </p:nvGrpSpPr>
        <p:grpSpPr>
          <a:xfrm rot="10800000">
            <a:off x="1079500" y="976581"/>
            <a:ext cx="924390" cy="1045314"/>
            <a:chOff x="6200905" y="2967038"/>
            <a:chExt cx="924390" cy="1045314"/>
          </a:xfrm>
        </p:grpSpPr>
        <p:grpSp>
          <p:nvGrpSpPr>
            <p:cNvPr id="42" name="Google Shape;42;p13"/>
            <p:cNvGrpSpPr/>
            <p:nvPr/>
          </p:nvGrpSpPr>
          <p:grpSpPr>
            <a:xfrm>
              <a:off x="6808136" y="2967038"/>
              <a:ext cx="317159" cy="932400"/>
              <a:chOff x="6808136" y="2967038"/>
              <a:chExt cx="317159" cy="932400"/>
            </a:xfrm>
          </p:grpSpPr>
          <p:sp>
            <p:nvSpPr>
              <p:cNvPr id="43" name="Google Shape;43;p13"/>
              <p:cNvSpPr/>
              <p:nvPr/>
            </p:nvSpPr>
            <p:spPr>
              <a:xfrm>
                <a:off x="6808136" y="2967038"/>
                <a:ext cx="159772" cy="710627"/>
              </a:xfrm>
              <a:custGeom>
                <a:rect b="b" l="l" r="r" t="t"/>
                <a:pathLst>
                  <a:path extrusionOk="0" h="298" w="67">
                    <a:moveTo>
                      <a:pt x="0" y="149"/>
                    </a:moveTo>
                    <a:cubicBezTo>
                      <a:pt x="0" y="208"/>
                      <a:pt x="26" y="261"/>
                      <a:pt x="67" y="298"/>
                    </a:cubicBezTo>
                    <a:cubicBezTo>
                      <a:pt x="67" y="0"/>
                      <a:pt x="67" y="0"/>
                      <a:pt x="67" y="0"/>
                    </a:cubicBezTo>
                    <a:cubicBezTo>
                      <a:pt x="26" y="36"/>
                      <a:pt x="0" y="89"/>
                      <a:pt x="0" y="149"/>
                    </a:cubicBezTo>
                    <a:close/>
                  </a:path>
                </a:pathLst>
              </a:custGeom>
              <a:gradFill>
                <a:gsLst>
                  <a:gs pos="0">
                    <a:srgbClr val="FFFFFF">
                      <a:alpha val="80000"/>
                    </a:srgbClr>
                  </a:gs>
                  <a:gs pos="100000">
                    <a:srgbClr val="FFFFFF">
                      <a:alpha val="20000"/>
                    </a:srgbClr>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4" name="Google Shape;44;p13"/>
              <p:cNvSpPr/>
              <p:nvPr/>
            </p:nvSpPr>
            <p:spPr>
              <a:xfrm>
                <a:off x="6967908" y="2967038"/>
                <a:ext cx="157387" cy="710627"/>
              </a:xfrm>
              <a:custGeom>
                <a:rect b="b" l="l" r="r" t="t"/>
                <a:pathLst>
                  <a:path extrusionOk="0" h="298" w="66">
                    <a:moveTo>
                      <a:pt x="0" y="0"/>
                    </a:moveTo>
                    <a:cubicBezTo>
                      <a:pt x="0" y="298"/>
                      <a:pt x="0" y="298"/>
                      <a:pt x="0" y="298"/>
                    </a:cubicBezTo>
                    <a:cubicBezTo>
                      <a:pt x="41" y="261"/>
                      <a:pt x="66" y="208"/>
                      <a:pt x="66" y="149"/>
                    </a:cubicBezTo>
                    <a:cubicBezTo>
                      <a:pt x="66" y="89"/>
                      <a:pt x="41" y="36"/>
                      <a:pt x="0" y="0"/>
                    </a:cubicBezTo>
                    <a:close/>
                  </a:path>
                </a:pathLst>
              </a:custGeom>
              <a:gradFill>
                <a:gsLst>
                  <a:gs pos="0">
                    <a:srgbClr val="FFFFFF">
                      <a:alpha val="80000"/>
                    </a:srgbClr>
                  </a:gs>
                  <a:gs pos="100000">
                    <a:srgbClr val="FFFFFF">
                      <a:alpha val="9803"/>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cxnSp>
            <p:nvCxnSpPr>
              <p:cNvPr id="45" name="Google Shape;45;p13"/>
              <p:cNvCxnSpPr/>
              <p:nvPr/>
            </p:nvCxnSpPr>
            <p:spPr>
              <a:xfrm rot="10800000">
                <a:off x="6967908" y="2967038"/>
                <a:ext cx="0" cy="932400"/>
              </a:xfrm>
              <a:prstGeom prst="straightConnector1">
                <a:avLst/>
              </a:prstGeom>
              <a:noFill/>
              <a:ln cap="flat" cmpd="sng" w="12700">
                <a:solidFill>
                  <a:srgbClr val="FFFFFF"/>
                </a:solidFill>
                <a:prstDash val="solid"/>
                <a:miter lim="800000"/>
                <a:headEnd len="med" w="med" type="none"/>
                <a:tailEnd len="med" w="med" type="none"/>
              </a:ln>
            </p:spPr>
          </p:cxnSp>
        </p:grpSp>
        <p:grpSp>
          <p:nvGrpSpPr>
            <p:cNvPr id="46" name="Google Shape;46;p13"/>
            <p:cNvGrpSpPr/>
            <p:nvPr/>
          </p:nvGrpSpPr>
          <p:grpSpPr>
            <a:xfrm flipH="1" rot="-2700000">
              <a:off x="6484111" y="3104366"/>
              <a:ext cx="317159" cy="932400"/>
              <a:chOff x="6808136" y="2967038"/>
              <a:chExt cx="317159" cy="932400"/>
            </a:xfrm>
          </p:grpSpPr>
          <p:sp>
            <p:nvSpPr>
              <p:cNvPr id="47" name="Google Shape;47;p13"/>
              <p:cNvSpPr/>
              <p:nvPr/>
            </p:nvSpPr>
            <p:spPr>
              <a:xfrm>
                <a:off x="6808136" y="2967038"/>
                <a:ext cx="159772" cy="710627"/>
              </a:xfrm>
              <a:custGeom>
                <a:rect b="b" l="l" r="r" t="t"/>
                <a:pathLst>
                  <a:path extrusionOk="0" h="298" w="67">
                    <a:moveTo>
                      <a:pt x="0" y="149"/>
                    </a:moveTo>
                    <a:cubicBezTo>
                      <a:pt x="0" y="208"/>
                      <a:pt x="26" y="261"/>
                      <a:pt x="67" y="298"/>
                    </a:cubicBezTo>
                    <a:cubicBezTo>
                      <a:pt x="67" y="0"/>
                      <a:pt x="67" y="0"/>
                      <a:pt x="67" y="0"/>
                    </a:cubicBezTo>
                    <a:cubicBezTo>
                      <a:pt x="26" y="36"/>
                      <a:pt x="0" y="89"/>
                      <a:pt x="0" y="149"/>
                    </a:cubicBezTo>
                    <a:close/>
                  </a:path>
                </a:pathLst>
              </a:custGeom>
              <a:gradFill>
                <a:gsLst>
                  <a:gs pos="0">
                    <a:srgbClr val="FFFFFF">
                      <a:alpha val="80000"/>
                    </a:srgbClr>
                  </a:gs>
                  <a:gs pos="100000">
                    <a:srgbClr val="FFFFFF">
                      <a:alpha val="20000"/>
                    </a:srgbClr>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48" name="Google Shape;48;p13"/>
              <p:cNvSpPr/>
              <p:nvPr/>
            </p:nvSpPr>
            <p:spPr>
              <a:xfrm>
                <a:off x="6967908" y="2967038"/>
                <a:ext cx="157387" cy="710627"/>
              </a:xfrm>
              <a:custGeom>
                <a:rect b="b" l="l" r="r" t="t"/>
                <a:pathLst>
                  <a:path extrusionOk="0" h="298" w="66">
                    <a:moveTo>
                      <a:pt x="0" y="0"/>
                    </a:moveTo>
                    <a:cubicBezTo>
                      <a:pt x="0" y="298"/>
                      <a:pt x="0" y="298"/>
                      <a:pt x="0" y="298"/>
                    </a:cubicBezTo>
                    <a:cubicBezTo>
                      <a:pt x="41" y="261"/>
                      <a:pt x="66" y="208"/>
                      <a:pt x="66" y="149"/>
                    </a:cubicBezTo>
                    <a:cubicBezTo>
                      <a:pt x="66" y="89"/>
                      <a:pt x="41" y="36"/>
                      <a:pt x="0" y="0"/>
                    </a:cubicBezTo>
                    <a:close/>
                  </a:path>
                </a:pathLst>
              </a:custGeom>
              <a:gradFill>
                <a:gsLst>
                  <a:gs pos="0">
                    <a:srgbClr val="FFFFFF">
                      <a:alpha val="80000"/>
                    </a:srgbClr>
                  </a:gs>
                  <a:gs pos="100000">
                    <a:srgbClr val="FFFFFF">
                      <a:alpha val="9803"/>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cxnSp>
            <p:nvCxnSpPr>
              <p:cNvPr id="49" name="Google Shape;49;p13"/>
              <p:cNvCxnSpPr/>
              <p:nvPr/>
            </p:nvCxnSpPr>
            <p:spPr>
              <a:xfrm rot="10800000">
                <a:off x="6967908" y="2967038"/>
                <a:ext cx="0" cy="932400"/>
              </a:xfrm>
              <a:prstGeom prst="straightConnector1">
                <a:avLst/>
              </a:prstGeom>
              <a:noFill/>
              <a:ln cap="flat" cmpd="sng" w="12700">
                <a:solidFill>
                  <a:srgbClr val="FFFFFF"/>
                </a:solidFill>
                <a:prstDash val="solid"/>
                <a:miter lim="800000"/>
                <a:headEnd len="med" w="med" type="none"/>
                <a:tailEnd len="med" w="med" type="none"/>
              </a:ln>
            </p:spPr>
          </p:cxnSp>
        </p:grpSp>
      </p:grpSp>
      <p:cxnSp>
        <p:nvCxnSpPr>
          <p:cNvPr id="50" name="Google Shape;50;p13"/>
          <p:cNvCxnSpPr/>
          <p:nvPr/>
        </p:nvCxnSpPr>
        <p:spPr>
          <a:xfrm rot="5400000">
            <a:off x="5826000" y="3429001"/>
            <a:ext cx="540000" cy="0"/>
          </a:xfrm>
          <a:prstGeom prst="straightConnector1">
            <a:avLst/>
          </a:prstGeom>
          <a:noFill/>
          <a:ln cap="flat" cmpd="sng" w="12700">
            <a:solidFill>
              <a:srgbClr val="FFFFF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14"/>
          <p:cNvSpPr txBox="1"/>
          <p:nvPr>
            <p:ph type="title"/>
          </p:nvPr>
        </p:nvSpPr>
        <p:spPr>
          <a:xfrm>
            <a:off x="989400" y="395289"/>
            <a:ext cx="10213200" cy="11128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4"/>
          <p:cNvSpPr txBox="1"/>
          <p:nvPr>
            <p:ph idx="1" type="body"/>
          </p:nvPr>
        </p:nvSpPr>
        <p:spPr>
          <a:xfrm>
            <a:off x="989400" y="1685925"/>
            <a:ext cx="4928400" cy="4092575"/>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4"/>
          <p:cNvSpPr txBox="1"/>
          <p:nvPr>
            <p:ph idx="2" type="body"/>
          </p:nvPr>
        </p:nvSpPr>
        <p:spPr>
          <a:xfrm>
            <a:off x="6274202" y="1685925"/>
            <a:ext cx="4928400" cy="4092575"/>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4"/>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8" name="Shape 58"/>
        <p:cNvGrpSpPr/>
        <p:nvPr/>
      </p:nvGrpSpPr>
      <p:grpSpPr>
        <a:xfrm>
          <a:off x="0" y="0"/>
          <a:ext cx="0" cy="0"/>
          <a:chOff x="0" y="0"/>
          <a:chExt cx="0" cy="0"/>
        </a:xfrm>
      </p:grpSpPr>
      <p:sp>
        <p:nvSpPr>
          <p:cNvPr id="59" name="Google Shape;59;p15"/>
          <p:cNvSpPr txBox="1"/>
          <p:nvPr>
            <p:ph type="title"/>
          </p:nvPr>
        </p:nvSpPr>
        <p:spPr>
          <a:xfrm>
            <a:off x="989400" y="395289"/>
            <a:ext cx="10213200" cy="11128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 type="body"/>
          </p:nvPr>
        </p:nvSpPr>
        <p:spPr>
          <a:xfrm>
            <a:off x="989399" y="1736732"/>
            <a:ext cx="4928400" cy="661912"/>
          </a:xfrm>
          <a:prstGeom prst="rect">
            <a:avLst/>
          </a:prstGeom>
          <a:noFill/>
          <a:ln>
            <a:noFill/>
          </a:ln>
        </p:spPr>
        <p:txBody>
          <a:bodyPr anchorCtr="0" anchor="b" bIns="45700" lIns="91425" spcFirstLastPara="1" rIns="91425" wrap="square" tIns="45700">
            <a:normAutofit/>
          </a:bodyPr>
          <a:lstStyle>
            <a:lvl1pPr indent="-228600" lvl="0" marL="457200" algn="l">
              <a:lnSpc>
                <a:spcPct val="150000"/>
              </a:lnSpc>
              <a:spcBef>
                <a:spcPts val="1000"/>
              </a:spcBef>
              <a:spcAft>
                <a:spcPts val="0"/>
              </a:spcAft>
              <a:buSzPts val="1600"/>
              <a:buNone/>
              <a:defRPr b="0" sz="1600" cap="none"/>
            </a:lvl1pPr>
            <a:lvl2pPr indent="-228600" lvl="1" marL="914400" algn="l">
              <a:lnSpc>
                <a:spcPct val="150000"/>
              </a:lnSpc>
              <a:spcBef>
                <a:spcPts val="500"/>
              </a:spcBef>
              <a:spcAft>
                <a:spcPts val="0"/>
              </a:spcAft>
              <a:buClr>
                <a:schemeClr val="dk1"/>
              </a:buClr>
              <a:buSzPts val="2000"/>
              <a:buFont typeface="Avenir"/>
              <a:buNone/>
              <a:defRPr b="1" sz="2000"/>
            </a:lvl2pPr>
            <a:lvl3pPr indent="-228600" lvl="2" marL="1371600" algn="l">
              <a:lnSpc>
                <a:spcPct val="150000"/>
              </a:lnSpc>
              <a:spcBef>
                <a:spcPts val="500"/>
              </a:spcBef>
              <a:spcAft>
                <a:spcPts val="0"/>
              </a:spcAft>
              <a:buSzPts val="1800"/>
              <a:buNone/>
              <a:defRPr b="1" sz="1800"/>
            </a:lvl3pPr>
            <a:lvl4pPr indent="-228600" lvl="3" marL="1828800" algn="l">
              <a:lnSpc>
                <a:spcPct val="150000"/>
              </a:lnSpc>
              <a:spcBef>
                <a:spcPts val="500"/>
              </a:spcBef>
              <a:spcAft>
                <a:spcPts val="0"/>
              </a:spcAft>
              <a:buSzPts val="1600"/>
              <a:buFont typeface="Avenir"/>
              <a:buNone/>
              <a:defRPr b="1" sz="1600"/>
            </a:lvl4pPr>
            <a:lvl5pPr indent="-228600" lvl="4" marL="2286000" algn="l">
              <a:lnSpc>
                <a:spcPct val="15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15"/>
          <p:cNvSpPr txBox="1"/>
          <p:nvPr>
            <p:ph idx="2" type="body"/>
          </p:nvPr>
        </p:nvSpPr>
        <p:spPr>
          <a:xfrm>
            <a:off x="989400" y="2431256"/>
            <a:ext cx="4928400" cy="3347244"/>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5"/>
          <p:cNvSpPr txBox="1"/>
          <p:nvPr>
            <p:ph idx="3" type="body"/>
          </p:nvPr>
        </p:nvSpPr>
        <p:spPr>
          <a:xfrm>
            <a:off x="6274200" y="1736732"/>
            <a:ext cx="4928400" cy="662400"/>
          </a:xfrm>
          <a:prstGeom prst="rect">
            <a:avLst/>
          </a:prstGeom>
          <a:noFill/>
          <a:ln>
            <a:noFill/>
          </a:ln>
        </p:spPr>
        <p:txBody>
          <a:bodyPr anchorCtr="0" anchor="b" bIns="45700" lIns="91425" spcFirstLastPara="1" rIns="91425" wrap="square" tIns="45700">
            <a:normAutofit/>
          </a:bodyPr>
          <a:lstStyle>
            <a:lvl1pPr indent="-228600" lvl="0" marL="457200" algn="l">
              <a:lnSpc>
                <a:spcPct val="150000"/>
              </a:lnSpc>
              <a:spcBef>
                <a:spcPts val="1000"/>
              </a:spcBef>
              <a:spcAft>
                <a:spcPts val="0"/>
              </a:spcAft>
              <a:buSzPts val="1600"/>
              <a:buNone/>
              <a:defRPr b="0" sz="1600" cap="none"/>
            </a:lvl1pPr>
            <a:lvl2pPr indent="-228600" lvl="1" marL="914400" algn="l">
              <a:lnSpc>
                <a:spcPct val="150000"/>
              </a:lnSpc>
              <a:spcBef>
                <a:spcPts val="500"/>
              </a:spcBef>
              <a:spcAft>
                <a:spcPts val="0"/>
              </a:spcAft>
              <a:buClr>
                <a:schemeClr val="dk1"/>
              </a:buClr>
              <a:buSzPts val="2000"/>
              <a:buFont typeface="Avenir"/>
              <a:buNone/>
              <a:defRPr b="1" sz="2000"/>
            </a:lvl2pPr>
            <a:lvl3pPr indent="-228600" lvl="2" marL="1371600" algn="l">
              <a:lnSpc>
                <a:spcPct val="150000"/>
              </a:lnSpc>
              <a:spcBef>
                <a:spcPts val="500"/>
              </a:spcBef>
              <a:spcAft>
                <a:spcPts val="0"/>
              </a:spcAft>
              <a:buSzPts val="1800"/>
              <a:buNone/>
              <a:defRPr b="1" sz="1800"/>
            </a:lvl3pPr>
            <a:lvl4pPr indent="-228600" lvl="3" marL="1828800" algn="l">
              <a:lnSpc>
                <a:spcPct val="150000"/>
              </a:lnSpc>
              <a:spcBef>
                <a:spcPts val="500"/>
              </a:spcBef>
              <a:spcAft>
                <a:spcPts val="0"/>
              </a:spcAft>
              <a:buSzPts val="1600"/>
              <a:buFont typeface="Avenir"/>
              <a:buNone/>
              <a:defRPr b="1" sz="1600"/>
            </a:lvl4pPr>
            <a:lvl5pPr indent="-228600" lvl="4" marL="2286000" algn="l">
              <a:lnSpc>
                <a:spcPct val="15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15"/>
          <p:cNvSpPr txBox="1"/>
          <p:nvPr>
            <p:ph idx="4" type="body"/>
          </p:nvPr>
        </p:nvSpPr>
        <p:spPr>
          <a:xfrm>
            <a:off x="6274200" y="2431257"/>
            <a:ext cx="4928400" cy="3347244"/>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5"/>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p16"/>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17"/>
          <p:cNvSpPr txBox="1"/>
          <p:nvPr>
            <p:ph type="title"/>
          </p:nvPr>
        </p:nvSpPr>
        <p:spPr>
          <a:xfrm>
            <a:off x="990001" y="955674"/>
            <a:ext cx="3531600" cy="138499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800"/>
              <a:buFont typeface="Sorts Mill Goudy"/>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7"/>
          <p:cNvSpPr txBox="1"/>
          <p:nvPr>
            <p:ph idx="1" type="body"/>
          </p:nvPr>
        </p:nvSpPr>
        <p:spPr>
          <a:xfrm>
            <a:off x="5444850" y="882651"/>
            <a:ext cx="5760000" cy="4895849"/>
          </a:xfrm>
          <a:prstGeom prst="rect">
            <a:avLst/>
          </a:prstGeom>
          <a:noFill/>
          <a:ln>
            <a:noFill/>
          </a:ln>
        </p:spPr>
        <p:txBody>
          <a:bodyPr anchorCtr="0" anchor="t" bIns="45700" lIns="91425" spcFirstLastPara="1" rIns="91425" wrap="square" tIns="45700">
            <a:normAutofit/>
          </a:bodyPr>
          <a:lstStyle>
            <a:lvl1pPr indent="-431800" lvl="0" marL="457200" algn="l">
              <a:lnSpc>
                <a:spcPct val="150000"/>
              </a:lnSpc>
              <a:spcBef>
                <a:spcPts val="1000"/>
              </a:spcBef>
              <a:spcAft>
                <a:spcPts val="0"/>
              </a:spcAft>
              <a:buSzPts val="3200"/>
              <a:buChar char="·"/>
              <a:defRPr sz="3200"/>
            </a:lvl1pPr>
            <a:lvl2pPr indent="-228600" lvl="1" marL="914400" algn="l">
              <a:lnSpc>
                <a:spcPct val="150000"/>
              </a:lnSpc>
              <a:spcBef>
                <a:spcPts val="500"/>
              </a:spcBef>
              <a:spcAft>
                <a:spcPts val="0"/>
              </a:spcAft>
              <a:buClr>
                <a:schemeClr val="dk1"/>
              </a:buClr>
              <a:buSzPts val="2800"/>
              <a:buFont typeface="Avenir"/>
              <a:buNone/>
              <a:defRPr sz="2800"/>
            </a:lvl2pPr>
            <a:lvl3pPr indent="-381000" lvl="2" marL="1371600" algn="l">
              <a:lnSpc>
                <a:spcPct val="150000"/>
              </a:lnSpc>
              <a:spcBef>
                <a:spcPts val="500"/>
              </a:spcBef>
              <a:spcAft>
                <a:spcPts val="0"/>
              </a:spcAft>
              <a:buSzPts val="2400"/>
              <a:buChar char="·"/>
              <a:defRPr sz="2400"/>
            </a:lvl3pPr>
            <a:lvl4pPr indent="-228600" lvl="3" marL="1828800" algn="l">
              <a:lnSpc>
                <a:spcPct val="150000"/>
              </a:lnSpc>
              <a:spcBef>
                <a:spcPts val="500"/>
              </a:spcBef>
              <a:spcAft>
                <a:spcPts val="0"/>
              </a:spcAft>
              <a:buSzPts val="2000"/>
              <a:buFont typeface="Avenir"/>
              <a:buNone/>
              <a:defRPr sz="2000"/>
            </a:lvl4pPr>
            <a:lvl5pPr indent="-355600" lvl="4" marL="2286000" algn="l">
              <a:lnSpc>
                <a:spcPct val="150000"/>
              </a:lnSpc>
              <a:spcBef>
                <a:spcPts val="500"/>
              </a:spcBef>
              <a:spcAft>
                <a:spcPts val="0"/>
              </a:spcAft>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17"/>
          <p:cNvSpPr txBox="1"/>
          <p:nvPr>
            <p:ph idx="2" type="body"/>
          </p:nvPr>
        </p:nvSpPr>
        <p:spPr>
          <a:xfrm>
            <a:off x="989401" y="2584759"/>
            <a:ext cx="3531600" cy="3193741"/>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SzPts val="2000"/>
              <a:buNone/>
              <a:defRPr sz="2000"/>
            </a:lvl1pPr>
            <a:lvl2pPr indent="-228600" lvl="1" marL="914400" algn="l">
              <a:lnSpc>
                <a:spcPct val="150000"/>
              </a:lnSpc>
              <a:spcBef>
                <a:spcPts val="500"/>
              </a:spcBef>
              <a:spcAft>
                <a:spcPts val="0"/>
              </a:spcAft>
              <a:buClr>
                <a:schemeClr val="dk1"/>
              </a:buClr>
              <a:buSzPts val="1400"/>
              <a:buFont typeface="Avenir"/>
              <a:buNone/>
              <a:defRPr sz="1400"/>
            </a:lvl2pPr>
            <a:lvl3pPr indent="-228600" lvl="2" marL="1371600" algn="l">
              <a:lnSpc>
                <a:spcPct val="150000"/>
              </a:lnSpc>
              <a:spcBef>
                <a:spcPts val="500"/>
              </a:spcBef>
              <a:spcAft>
                <a:spcPts val="0"/>
              </a:spcAft>
              <a:buSzPts val="1200"/>
              <a:buNone/>
              <a:defRPr sz="1200"/>
            </a:lvl3pPr>
            <a:lvl4pPr indent="-228600" lvl="3" marL="1828800" algn="l">
              <a:lnSpc>
                <a:spcPct val="150000"/>
              </a:lnSpc>
              <a:spcBef>
                <a:spcPts val="500"/>
              </a:spcBef>
              <a:spcAft>
                <a:spcPts val="0"/>
              </a:spcAft>
              <a:buSzPts val="1000"/>
              <a:buFont typeface="Avenir"/>
              <a:buNone/>
              <a:defRPr sz="1000"/>
            </a:lvl4pPr>
            <a:lvl5pPr indent="-228600" lvl="4" marL="2286000" algn="l">
              <a:lnSpc>
                <a:spcPct val="15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7"/>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8" name="Google Shape;78;p17"/>
          <p:cNvCxnSpPr/>
          <p:nvPr/>
        </p:nvCxnSpPr>
        <p:spPr>
          <a:xfrm>
            <a:off x="4979988" y="540000"/>
            <a:ext cx="0" cy="5778000"/>
          </a:xfrm>
          <a:prstGeom prst="straightConnector1">
            <a:avLst/>
          </a:prstGeom>
          <a:noFill/>
          <a:ln cap="flat" cmpd="sng" w="12700">
            <a:solidFill>
              <a:srgbClr val="FFFFFF">
                <a:alpha val="40000"/>
              </a:srgbClr>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p18"/>
          <p:cNvSpPr txBox="1"/>
          <p:nvPr>
            <p:ph type="title"/>
          </p:nvPr>
        </p:nvSpPr>
        <p:spPr>
          <a:xfrm>
            <a:off x="990000" y="955456"/>
            <a:ext cx="3531600" cy="138499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800"/>
              <a:buFont typeface="Sorts Mill Goudy"/>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8"/>
          <p:cNvSpPr/>
          <p:nvPr>
            <p:ph idx="2" type="pic"/>
          </p:nvPr>
        </p:nvSpPr>
        <p:spPr>
          <a:xfrm>
            <a:off x="5537200" y="540001"/>
            <a:ext cx="6115050" cy="5238500"/>
          </a:xfrm>
          <a:prstGeom prst="rect">
            <a:avLst/>
          </a:prstGeom>
          <a:noFill/>
          <a:ln>
            <a:noFill/>
          </a:ln>
        </p:spPr>
      </p:sp>
      <p:sp>
        <p:nvSpPr>
          <p:cNvPr id="82" name="Google Shape;82;p18"/>
          <p:cNvSpPr txBox="1"/>
          <p:nvPr>
            <p:ph idx="1" type="body"/>
          </p:nvPr>
        </p:nvSpPr>
        <p:spPr>
          <a:xfrm>
            <a:off x="990000" y="2584758"/>
            <a:ext cx="3531600" cy="3284229"/>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SzPts val="2000"/>
              <a:buNone/>
              <a:defRPr sz="2000"/>
            </a:lvl1pPr>
            <a:lvl2pPr indent="-228600" lvl="1" marL="914400" algn="l">
              <a:lnSpc>
                <a:spcPct val="150000"/>
              </a:lnSpc>
              <a:spcBef>
                <a:spcPts val="500"/>
              </a:spcBef>
              <a:spcAft>
                <a:spcPts val="0"/>
              </a:spcAft>
              <a:buClr>
                <a:schemeClr val="dk1"/>
              </a:buClr>
              <a:buSzPts val="1400"/>
              <a:buFont typeface="Avenir"/>
              <a:buNone/>
              <a:defRPr sz="1400"/>
            </a:lvl2pPr>
            <a:lvl3pPr indent="-228600" lvl="2" marL="1371600" algn="l">
              <a:lnSpc>
                <a:spcPct val="150000"/>
              </a:lnSpc>
              <a:spcBef>
                <a:spcPts val="500"/>
              </a:spcBef>
              <a:spcAft>
                <a:spcPts val="0"/>
              </a:spcAft>
              <a:buSzPts val="1200"/>
              <a:buNone/>
              <a:defRPr sz="1200"/>
            </a:lvl3pPr>
            <a:lvl4pPr indent="-228600" lvl="3" marL="1828800" algn="l">
              <a:lnSpc>
                <a:spcPct val="150000"/>
              </a:lnSpc>
              <a:spcBef>
                <a:spcPts val="500"/>
              </a:spcBef>
              <a:spcAft>
                <a:spcPts val="0"/>
              </a:spcAft>
              <a:buSzPts val="1000"/>
              <a:buFont typeface="Avenir"/>
              <a:buNone/>
              <a:defRPr sz="1000"/>
            </a:lvl4pPr>
            <a:lvl5pPr indent="-228600" lvl="4" marL="2286000" algn="l">
              <a:lnSpc>
                <a:spcPct val="15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18"/>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6" name="Google Shape;86;p18"/>
          <p:cNvCxnSpPr/>
          <p:nvPr/>
        </p:nvCxnSpPr>
        <p:spPr>
          <a:xfrm>
            <a:off x="4979988" y="540000"/>
            <a:ext cx="0" cy="5778000"/>
          </a:xfrm>
          <a:prstGeom prst="straightConnector1">
            <a:avLst/>
          </a:prstGeom>
          <a:noFill/>
          <a:ln cap="flat" cmpd="sng" w="12700">
            <a:solidFill>
              <a:srgbClr val="FFFFFF">
                <a:alpha val="40000"/>
              </a:srgbClr>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9"/>
          <p:cNvSpPr txBox="1"/>
          <p:nvPr>
            <p:ph type="title"/>
          </p:nvPr>
        </p:nvSpPr>
        <p:spPr>
          <a:xfrm>
            <a:off x="989400" y="395289"/>
            <a:ext cx="10213200" cy="11128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9"/>
          <p:cNvSpPr txBox="1"/>
          <p:nvPr>
            <p:ph idx="1" type="body"/>
          </p:nvPr>
        </p:nvSpPr>
        <p:spPr>
          <a:xfrm rot="5400000">
            <a:off x="4075905" y="-1400579"/>
            <a:ext cx="4040191" cy="10213200"/>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19"/>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9"/>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3" name="Shape 93"/>
        <p:cNvGrpSpPr/>
        <p:nvPr/>
      </p:nvGrpSpPr>
      <p:grpSpPr>
        <a:xfrm>
          <a:off x="0" y="0"/>
          <a:ext cx="0" cy="0"/>
          <a:chOff x="0" y="0"/>
          <a:chExt cx="0" cy="0"/>
        </a:xfrm>
      </p:grpSpPr>
      <p:sp>
        <p:nvSpPr>
          <p:cNvPr id="94" name="Google Shape;94;p20"/>
          <p:cNvSpPr txBox="1"/>
          <p:nvPr>
            <p:ph type="title"/>
          </p:nvPr>
        </p:nvSpPr>
        <p:spPr>
          <a:xfrm rot="5400000">
            <a:off x="7133431" y="1956594"/>
            <a:ext cx="5811838" cy="26289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50000"/>
              </a:lnSpc>
              <a:spcBef>
                <a:spcPts val="1000"/>
              </a:spcBef>
              <a:spcAft>
                <a:spcPts val="0"/>
              </a:spcAft>
              <a:buSzPts val="1800"/>
              <a:buChar char="·"/>
              <a:defRPr/>
            </a:lvl1pPr>
            <a:lvl2pPr indent="-228600" lvl="1" marL="914400" algn="l">
              <a:lnSpc>
                <a:spcPct val="150000"/>
              </a:lnSpc>
              <a:spcBef>
                <a:spcPts val="500"/>
              </a:spcBef>
              <a:spcAft>
                <a:spcPts val="0"/>
              </a:spcAft>
              <a:buClr>
                <a:schemeClr val="dk1"/>
              </a:buClr>
              <a:buSzPts val="1800"/>
              <a:buNone/>
              <a:defRPr/>
            </a:lvl2pPr>
            <a:lvl3pPr indent="-342900" lvl="2" marL="1371600" algn="l">
              <a:lnSpc>
                <a:spcPct val="150000"/>
              </a:lnSpc>
              <a:spcBef>
                <a:spcPts val="500"/>
              </a:spcBef>
              <a:spcAft>
                <a:spcPts val="0"/>
              </a:spcAft>
              <a:buSzPts val="1800"/>
              <a:buChar char="·"/>
              <a:defRPr/>
            </a:lvl3pPr>
            <a:lvl4pPr indent="-228600" lvl="3" marL="1828800" algn="l">
              <a:lnSpc>
                <a:spcPct val="150000"/>
              </a:lnSpc>
              <a:spcBef>
                <a:spcPts val="500"/>
              </a:spcBef>
              <a:spcAft>
                <a:spcPts val="0"/>
              </a:spcAft>
              <a:buSzPts val="1800"/>
              <a:buNone/>
              <a:defRPr/>
            </a:lvl4pPr>
            <a:lvl5pPr indent="-342900" lvl="4" marL="2286000" algn="l">
              <a:lnSpc>
                <a:spcPct val="15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20"/>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989400" y="395289"/>
            <a:ext cx="10213200" cy="1112836"/>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1"/>
              </a:buClr>
              <a:buSzPts val="3200"/>
              <a:buFont typeface="Sorts Mill Goudy"/>
              <a:buNone/>
              <a:defRPr b="0" i="0" sz="3200" u="none" cap="none" strike="noStrike">
                <a:solidFill>
                  <a:schemeClr val="dk1"/>
                </a:solidFill>
                <a:latin typeface="Sorts Mill Goudy"/>
                <a:ea typeface="Sorts Mill Goudy"/>
                <a:cs typeface="Sorts Mill Goudy"/>
                <a:sym typeface="Sorts Mill Goud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989400" y="1685925"/>
            <a:ext cx="10213200" cy="4040191"/>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50000"/>
              </a:lnSpc>
              <a:spcBef>
                <a:spcPts val="1000"/>
              </a:spcBef>
              <a:spcAft>
                <a:spcPts val="0"/>
              </a:spcAft>
              <a:buClr>
                <a:schemeClr val="accent3"/>
              </a:buClr>
              <a:buSzPts val="2000"/>
              <a:buFont typeface="Noto Sans Symbols"/>
              <a:buChar char="·"/>
              <a:defRPr b="0" i="0" sz="2000" u="none" cap="none" strike="noStrike">
                <a:solidFill>
                  <a:schemeClr val="dk1"/>
                </a:solidFill>
                <a:latin typeface="Avenir"/>
                <a:ea typeface="Avenir"/>
                <a:cs typeface="Avenir"/>
                <a:sym typeface="Avenir"/>
              </a:defRPr>
            </a:lvl1pPr>
            <a:lvl2pPr indent="-228600" lvl="1" marL="914400" marR="0" rtl="0" algn="l">
              <a:lnSpc>
                <a:spcPct val="150000"/>
              </a:lnSpc>
              <a:spcBef>
                <a:spcPts val="500"/>
              </a:spcBef>
              <a:spcAft>
                <a:spcPts val="0"/>
              </a:spcAft>
              <a:buClr>
                <a:schemeClr val="dk1"/>
              </a:buClr>
              <a:buSzPts val="2000"/>
              <a:buFont typeface="Avenir"/>
              <a:buNone/>
              <a:defRPr b="0" i="1" sz="2000" u="none" cap="none" strike="noStrike">
                <a:solidFill>
                  <a:schemeClr val="dk1"/>
                </a:solidFill>
                <a:latin typeface="Avenir"/>
                <a:ea typeface="Avenir"/>
                <a:cs typeface="Avenir"/>
                <a:sym typeface="Avenir"/>
              </a:defRPr>
            </a:lvl2pPr>
            <a:lvl3pPr indent="-355600" lvl="2" marL="1371600" marR="0" rtl="0" algn="l">
              <a:lnSpc>
                <a:spcPct val="150000"/>
              </a:lnSpc>
              <a:spcBef>
                <a:spcPts val="500"/>
              </a:spcBef>
              <a:spcAft>
                <a:spcPts val="0"/>
              </a:spcAft>
              <a:buClr>
                <a:schemeClr val="accent3"/>
              </a:buClr>
              <a:buSzPts val="2000"/>
              <a:buFont typeface="Noto Sans Symbols"/>
              <a:buChar char="·"/>
              <a:defRPr b="0" i="0" sz="2000" u="none" cap="none" strike="noStrike">
                <a:solidFill>
                  <a:schemeClr val="dk1"/>
                </a:solidFill>
                <a:latin typeface="Avenir"/>
                <a:ea typeface="Avenir"/>
                <a:cs typeface="Avenir"/>
                <a:sym typeface="Avenir"/>
              </a:defRPr>
            </a:lvl3pPr>
            <a:lvl4pPr indent="-228600" lvl="3" marL="1828800" marR="0" rtl="0" algn="l">
              <a:lnSpc>
                <a:spcPct val="150000"/>
              </a:lnSpc>
              <a:spcBef>
                <a:spcPts val="500"/>
              </a:spcBef>
              <a:spcAft>
                <a:spcPts val="0"/>
              </a:spcAft>
              <a:buClr>
                <a:schemeClr val="accent3"/>
              </a:buClr>
              <a:buSzPts val="2000"/>
              <a:buFont typeface="Avenir"/>
              <a:buNone/>
              <a:defRPr b="0" i="1" sz="2000" u="none" cap="none" strike="noStrike">
                <a:solidFill>
                  <a:schemeClr val="dk1"/>
                </a:solidFill>
                <a:latin typeface="Avenir"/>
                <a:ea typeface="Avenir"/>
                <a:cs typeface="Avenir"/>
                <a:sym typeface="Avenir"/>
              </a:defRPr>
            </a:lvl4pPr>
            <a:lvl5pPr indent="-355600" lvl="4" marL="2286000" marR="0" rtl="0" algn="l">
              <a:lnSpc>
                <a:spcPct val="150000"/>
              </a:lnSpc>
              <a:spcBef>
                <a:spcPts val="500"/>
              </a:spcBef>
              <a:spcAft>
                <a:spcPts val="0"/>
              </a:spcAft>
              <a:buClr>
                <a:schemeClr val="accent3"/>
              </a:buClr>
              <a:buSzPts val="2000"/>
              <a:buFont typeface="Noto Sans Symbols"/>
              <a:buChar char="·"/>
              <a:defRPr b="0" i="0" sz="20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8" name="Google Shape;8;p9"/>
          <p:cNvSpPr txBox="1"/>
          <p:nvPr>
            <p:ph idx="10" type="dt"/>
          </p:nvPr>
        </p:nvSpPr>
        <p:spPr>
          <a:xfrm>
            <a:off x="450000" y="6357168"/>
            <a:ext cx="1760150" cy="461665"/>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000" u="none" cap="none" strike="noStrike">
                <a:solidFill>
                  <a:schemeClr val="dk1"/>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9" name="Google Shape;9;p9"/>
          <p:cNvSpPr txBox="1"/>
          <p:nvPr>
            <p:ph idx="11" type="ftr"/>
          </p:nvPr>
        </p:nvSpPr>
        <p:spPr>
          <a:xfrm>
            <a:off x="2754312" y="6357600"/>
            <a:ext cx="6683376" cy="460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00" u="none" cap="none" strike="noStrike">
                <a:solidFill>
                  <a:schemeClr val="dk1"/>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0" name="Google Shape;10;p9"/>
          <p:cNvSpPr txBox="1"/>
          <p:nvPr>
            <p:ph idx="12" type="sldNum"/>
          </p:nvPr>
        </p:nvSpPr>
        <p:spPr>
          <a:xfrm>
            <a:off x="9982800" y="6357600"/>
            <a:ext cx="1760150" cy="4608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1pPr>
            <a:lvl2pPr indent="0" lvl="1"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2pPr>
            <a:lvl3pPr indent="0" lvl="2"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3pPr>
            <a:lvl4pPr indent="0" lvl="3"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4pPr>
            <a:lvl5pPr indent="0" lvl="4"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5pPr>
            <a:lvl6pPr indent="0" lvl="5"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6pPr>
            <a:lvl7pPr indent="0" lvl="6"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7pPr>
            <a:lvl8pPr indent="0" lvl="7"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8pPr>
            <a:lvl9pPr indent="0" lvl="8" marL="0" marR="0" rtl="0" algn="r">
              <a:spcBef>
                <a:spcPts val="0"/>
              </a:spcBef>
              <a:buNone/>
              <a:defRPr b="0" i="0" sz="1000" u="none" cap="none" strike="noStrike">
                <a:solidFill>
                  <a:schemeClr val="dk1"/>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deepika1294/coupon_purchase_predic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2" name="Shape 102"/>
        <p:cNvGrpSpPr/>
        <p:nvPr/>
      </p:nvGrpSpPr>
      <p:grpSpPr>
        <a:xfrm>
          <a:off x="0" y="0"/>
          <a:ext cx="0" cy="0"/>
          <a:chOff x="0" y="0"/>
          <a:chExt cx="0" cy="0"/>
        </a:xfrm>
      </p:grpSpPr>
      <p:sp>
        <p:nvSpPr>
          <p:cNvPr id="103" name="Google Shape;103;p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04" name="Google Shape;104;p1"/>
          <p:cNvSpPr txBox="1"/>
          <p:nvPr>
            <p:ph type="ctrTitle"/>
          </p:nvPr>
        </p:nvSpPr>
        <p:spPr>
          <a:xfrm>
            <a:off x="990000" y="1089025"/>
            <a:ext cx="4412424" cy="153295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Sorts Mill Goudy"/>
              <a:buNone/>
            </a:pPr>
            <a:r>
              <a:rPr b="1" lang="en-US"/>
              <a:t>Coupon Purchase Prediction</a:t>
            </a:r>
            <a:endParaRPr/>
          </a:p>
        </p:txBody>
      </p:sp>
      <p:sp>
        <p:nvSpPr>
          <p:cNvPr id="105" name="Google Shape;105;p1"/>
          <p:cNvSpPr txBox="1"/>
          <p:nvPr>
            <p:ph idx="1" type="subTitle"/>
          </p:nvPr>
        </p:nvSpPr>
        <p:spPr>
          <a:xfrm>
            <a:off x="990000" y="3284376"/>
            <a:ext cx="4075200" cy="2640563"/>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SzPts val="2000"/>
              <a:buNone/>
            </a:pPr>
            <a:r>
              <a:rPr lang="en-US" sz="2000">
                <a:latin typeface="Aharoni"/>
                <a:ea typeface="Aharoni"/>
                <a:cs typeface="Aharoni"/>
                <a:sym typeface="Aharoni"/>
              </a:rPr>
              <a:t>Deepika Chintala </a:t>
            </a:r>
            <a:endParaRPr/>
          </a:p>
          <a:p>
            <a:pPr indent="0" lvl="0" marL="0" rtl="0" algn="l">
              <a:lnSpc>
                <a:spcPct val="125000"/>
              </a:lnSpc>
              <a:spcBef>
                <a:spcPts val="1000"/>
              </a:spcBef>
              <a:spcAft>
                <a:spcPts val="0"/>
              </a:spcAft>
              <a:buSzPts val="2000"/>
              <a:buNone/>
            </a:pPr>
            <a:r>
              <a:rPr lang="en-US" sz="2000">
                <a:latin typeface="Aharoni"/>
                <a:ea typeface="Aharoni"/>
                <a:cs typeface="Aharoni"/>
                <a:sym typeface="Aharoni"/>
              </a:rPr>
              <a:t>Jyothirmai Kantipudi</a:t>
            </a:r>
            <a:endParaRPr/>
          </a:p>
          <a:p>
            <a:pPr indent="0" lvl="0" marL="0" rtl="0" algn="l">
              <a:lnSpc>
                <a:spcPct val="125000"/>
              </a:lnSpc>
              <a:spcBef>
                <a:spcPts val="1000"/>
              </a:spcBef>
              <a:spcAft>
                <a:spcPts val="0"/>
              </a:spcAft>
              <a:buSzPts val="2000"/>
              <a:buNone/>
            </a:pPr>
            <a:r>
              <a:rPr lang="en-US" sz="2000">
                <a:latin typeface="Aharoni"/>
                <a:ea typeface="Aharoni"/>
                <a:cs typeface="Aharoni"/>
                <a:sym typeface="Aharoni"/>
              </a:rPr>
              <a:t>Madhulika Gangarajula</a:t>
            </a:r>
            <a:endParaRPr/>
          </a:p>
          <a:p>
            <a:pPr indent="0" lvl="0" marL="0" rtl="0" algn="l">
              <a:lnSpc>
                <a:spcPct val="125000"/>
              </a:lnSpc>
              <a:spcBef>
                <a:spcPts val="1000"/>
              </a:spcBef>
              <a:spcAft>
                <a:spcPts val="0"/>
              </a:spcAft>
              <a:buSzPts val="2000"/>
              <a:buNone/>
            </a:pPr>
            <a:r>
              <a:rPr lang="en-US" sz="2000">
                <a:latin typeface="Aharoni"/>
                <a:ea typeface="Aharoni"/>
                <a:cs typeface="Aharoni"/>
                <a:sym typeface="Aharoni"/>
              </a:rPr>
              <a:t>Malavika Gudala</a:t>
            </a:r>
            <a:endParaRPr/>
          </a:p>
          <a:p>
            <a:pPr indent="0" lvl="0" marL="0" rtl="0" algn="l">
              <a:lnSpc>
                <a:spcPct val="125000"/>
              </a:lnSpc>
              <a:spcBef>
                <a:spcPts val="1000"/>
              </a:spcBef>
              <a:spcAft>
                <a:spcPts val="0"/>
              </a:spcAft>
              <a:buSzPts val="2000"/>
              <a:buNone/>
            </a:pPr>
            <a:r>
              <a:rPr lang="en-US" sz="2000">
                <a:latin typeface="Aharoni"/>
                <a:ea typeface="Aharoni"/>
                <a:cs typeface="Aharoni"/>
                <a:sym typeface="Aharoni"/>
              </a:rPr>
              <a:t>Tarun Konda </a:t>
            </a:r>
            <a:endParaRPr/>
          </a:p>
          <a:p>
            <a:pPr indent="0" lvl="0" marL="0" rtl="0" algn="l">
              <a:lnSpc>
                <a:spcPct val="125000"/>
              </a:lnSpc>
              <a:spcBef>
                <a:spcPts val="1000"/>
              </a:spcBef>
              <a:spcAft>
                <a:spcPts val="0"/>
              </a:spcAft>
              <a:buSzPts val="2000"/>
              <a:buNone/>
            </a:pPr>
            <a:r>
              <a:t/>
            </a:r>
            <a:endParaRPr sz="2000">
              <a:latin typeface="Aharoni"/>
              <a:ea typeface="Aharoni"/>
              <a:cs typeface="Aharoni"/>
              <a:sym typeface="Aharoni"/>
            </a:endParaRPr>
          </a:p>
        </p:txBody>
      </p:sp>
      <p:grpSp>
        <p:nvGrpSpPr>
          <p:cNvPr id="106" name="Google Shape;106;p1"/>
          <p:cNvGrpSpPr/>
          <p:nvPr/>
        </p:nvGrpSpPr>
        <p:grpSpPr>
          <a:xfrm>
            <a:off x="1919525" y="2840038"/>
            <a:ext cx="2216150" cy="1177924"/>
            <a:chOff x="4987925" y="2840038"/>
            <a:chExt cx="2216150" cy="1177924"/>
          </a:xfrm>
        </p:grpSpPr>
        <p:sp>
          <p:nvSpPr>
            <p:cNvPr id="107" name="Google Shape;107;p1"/>
            <p:cNvSpPr/>
            <p:nvPr/>
          </p:nvSpPr>
          <p:spPr>
            <a:xfrm>
              <a:off x="4987925" y="2840038"/>
              <a:ext cx="2216150" cy="1177924"/>
            </a:xfrm>
            <a:prstGeom prst="rect">
              <a:avLst/>
            </a:prstGeom>
            <a:solidFill>
              <a:schemeClr val="lt2">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grpSp>
          <p:nvGrpSpPr>
            <p:cNvPr id="108" name="Google Shape;108;p1"/>
            <p:cNvGrpSpPr/>
            <p:nvPr/>
          </p:nvGrpSpPr>
          <p:grpSpPr>
            <a:xfrm>
              <a:off x="5422657" y="2958667"/>
              <a:ext cx="1332015" cy="987941"/>
              <a:chOff x="6580978" y="2958667"/>
              <a:chExt cx="1332015" cy="987941"/>
            </a:xfrm>
          </p:grpSpPr>
          <p:grpSp>
            <p:nvGrpSpPr>
              <p:cNvPr id="109" name="Google Shape;109;p1"/>
              <p:cNvGrpSpPr/>
              <p:nvPr/>
            </p:nvGrpSpPr>
            <p:grpSpPr>
              <a:xfrm rot="2700000">
                <a:off x="7260443" y="2912637"/>
                <a:ext cx="317159" cy="1080000"/>
                <a:chOff x="4799744" y="2905614"/>
                <a:chExt cx="317159" cy="1080000"/>
              </a:xfrm>
            </p:grpSpPr>
            <p:sp>
              <p:nvSpPr>
                <p:cNvPr id="110" name="Google Shape;110;p1"/>
                <p:cNvSpPr/>
                <p:nvPr/>
              </p:nvSpPr>
              <p:spPr>
                <a:xfrm>
                  <a:off x="4799744" y="2905614"/>
                  <a:ext cx="159772" cy="710627"/>
                </a:xfrm>
                <a:custGeom>
                  <a:rect b="b" l="l" r="r" t="t"/>
                  <a:pathLst>
                    <a:path extrusionOk="0" h="298" w="67">
                      <a:moveTo>
                        <a:pt x="0" y="149"/>
                      </a:moveTo>
                      <a:cubicBezTo>
                        <a:pt x="0" y="208"/>
                        <a:pt x="26" y="261"/>
                        <a:pt x="67" y="298"/>
                      </a:cubicBezTo>
                      <a:cubicBezTo>
                        <a:pt x="67" y="0"/>
                        <a:pt x="67" y="0"/>
                        <a:pt x="67" y="0"/>
                      </a:cubicBezTo>
                      <a:cubicBezTo>
                        <a:pt x="26" y="36"/>
                        <a:pt x="0" y="89"/>
                        <a:pt x="0" y="149"/>
                      </a:cubicBezTo>
                      <a:close/>
                    </a:path>
                  </a:pathLst>
                </a:custGeom>
                <a:gradFill>
                  <a:gsLst>
                    <a:gs pos="0">
                      <a:srgbClr val="FFFFFF">
                        <a:alpha val="80000"/>
                      </a:srgbClr>
                    </a:gs>
                    <a:gs pos="100000">
                      <a:srgbClr val="FFFFFF">
                        <a:alpha val="20000"/>
                      </a:srgbClr>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1" name="Google Shape;111;p1"/>
                <p:cNvSpPr/>
                <p:nvPr/>
              </p:nvSpPr>
              <p:spPr>
                <a:xfrm>
                  <a:off x="4959516" y="2905614"/>
                  <a:ext cx="157387" cy="710627"/>
                </a:xfrm>
                <a:custGeom>
                  <a:rect b="b" l="l" r="r" t="t"/>
                  <a:pathLst>
                    <a:path extrusionOk="0" h="298" w="66">
                      <a:moveTo>
                        <a:pt x="0" y="0"/>
                      </a:moveTo>
                      <a:cubicBezTo>
                        <a:pt x="0" y="298"/>
                        <a:pt x="0" y="298"/>
                        <a:pt x="0" y="298"/>
                      </a:cubicBezTo>
                      <a:cubicBezTo>
                        <a:pt x="41" y="261"/>
                        <a:pt x="66" y="208"/>
                        <a:pt x="66" y="149"/>
                      </a:cubicBezTo>
                      <a:cubicBezTo>
                        <a:pt x="66" y="89"/>
                        <a:pt x="41" y="36"/>
                        <a:pt x="0" y="0"/>
                      </a:cubicBezTo>
                      <a:close/>
                    </a:path>
                  </a:pathLst>
                </a:custGeom>
                <a:gradFill>
                  <a:gsLst>
                    <a:gs pos="0">
                      <a:srgbClr val="FFFFFF">
                        <a:alpha val="80000"/>
                      </a:srgbClr>
                    </a:gs>
                    <a:gs pos="100000">
                      <a:srgbClr val="FFFFFF">
                        <a:alpha val="9803"/>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cxnSp>
              <p:nvCxnSpPr>
                <p:cNvPr id="112" name="Google Shape;112;p1"/>
                <p:cNvCxnSpPr/>
                <p:nvPr/>
              </p:nvCxnSpPr>
              <p:spPr>
                <a:xfrm rot="10800000">
                  <a:off x="4959516" y="2905614"/>
                  <a:ext cx="0" cy="1080000"/>
                </a:xfrm>
                <a:prstGeom prst="straightConnector1">
                  <a:avLst/>
                </a:prstGeom>
                <a:noFill/>
                <a:ln cap="flat" cmpd="sng" w="12700">
                  <a:solidFill>
                    <a:srgbClr val="FFFFFF"/>
                  </a:solidFill>
                  <a:prstDash val="solid"/>
                  <a:miter lim="800000"/>
                  <a:headEnd len="med" w="med" type="none"/>
                  <a:tailEnd len="med" w="med" type="none"/>
                </a:ln>
              </p:spPr>
            </p:cxnSp>
          </p:grpSp>
          <p:grpSp>
            <p:nvGrpSpPr>
              <p:cNvPr id="113" name="Google Shape;113;p1"/>
              <p:cNvGrpSpPr/>
              <p:nvPr/>
            </p:nvGrpSpPr>
            <p:grpSpPr>
              <a:xfrm flipH="1" rot="-2700000">
                <a:off x="6916369" y="2912637"/>
                <a:ext cx="317159" cy="1080000"/>
                <a:chOff x="4799744" y="2905614"/>
                <a:chExt cx="317159" cy="1080000"/>
              </a:xfrm>
            </p:grpSpPr>
            <p:sp>
              <p:nvSpPr>
                <p:cNvPr id="114" name="Google Shape;114;p1"/>
                <p:cNvSpPr/>
                <p:nvPr/>
              </p:nvSpPr>
              <p:spPr>
                <a:xfrm>
                  <a:off x="4799744" y="2905614"/>
                  <a:ext cx="159772" cy="710627"/>
                </a:xfrm>
                <a:custGeom>
                  <a:rect b="b" l="l" r="r" t="t"/>
                  <a:pathLst>
                    <a:path extrusionOk="0" h="298" w="67">
                      <a:moveTo>
                        <a:pt x="0" y="149"/>
                      </a:moveTo>
                      <a:cubicBezTo>
                        <a:pt x="0" y="208"/>
                        <a:pt x="26" y="261"/>
                        <a:pt x="67" y="298"/>
                      </a:cubicBezTo>
                      <a:cubicBezTo>
                        <a:pt x="67" y="0"/>
                        <a:pt x="67" y="0"/>
                        <a:pt x="67" y="0"/>
                      </a:cubicBezTo>
                      <a:cubicBezTo>
                        <a:pt x="26" y="36"/>
                        <a:pt x="0" y="89"/>
                        <a:pt x="0" y="149"/>
                      </a:cubicBezTo>
                      <a:close/>
                    </a:path>
                  </a:pathLst>
                </a:custGeom>
                <a:gradFill>
                  <a:gsLst>
                    <a:gs pos="0">
                      <a:srgbClr val="FFFFFF">
                        <a:alpha val="80000"/>
                      </a:srgbClr>
                    </a:gs>
                    <a:gs pos="100000">
                      <a:srgbClr val="FFFFFF">
                        <a:alpha val="20000"/>
                      </a:srgbClr>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
              <p:nvSpPr>
                <p:cNvPr id="115" name="Google Shape;115;p1"/>
                <p:cNvSpPr/>
                <p:nvPr/>
              </p:nvSpPr>
              <p:spPr>
                <a:xfrm>
                  <a:off x="4959516" y="2905614"/>
                  <a:ext cx="157387" cy="710627"/>
                </a:xfrm>
                <a:custGeom>
                  <a:rect b="b" l="l" r="r" t="t"/>
                  <a:pathLst>
                    <a:path extrusionOk="0" h="298" w="66">
                      <a:moveTo>
                        <a:pt x="0" y="0"/>
                      </a:moveTo>
                      <a:cubicBezTo>
                        <a:pt x="0" y="298"/>
                        <a:pt x="0" y="298"/>
                        <a:pt x="0" y="298"/>
                      </a:cubicBezTo>
                      <a:cubicBezTo>
                        <a:pt x="41" y="261"/>
                        <a:pt x="66" y="208"/>
                        <a:pt x="66" y="149"/>
                      </a:cubicBezTo>
                      <a:cubicBezTo>
                        <a:pt x="66" y="89"/>
                        <a:pt x="41" y="36"/>
                        <a:pt x="0" y="0"/>
                      </a:cubicBezTo>
                      <a:close/>
                    </a:path>
                  </a:pathLst>
                </a:custGeom>
                <a:gradFill>
                  <a:gsLst>
                    <a:gs pos="0">
                      <a:srgbClr val="FFFFFF">
                        <a:alpha val="80000"/>
                      </a:srgbClr>
                    </a:gs>
                    <a:gs pos="100000">
                      <a:srgbClr val="FFFFFF">
                        <a:alpha val="9803"/>
                      </a:srgbClr>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cxnSp>
              <p:nvCxnSpPr>
                <p:cNvPr id="116" name="Google Shape;116;p1"/>
                <p:cNvCxnSpPr/>
                <p:nvPr/>
              </p:nvCxnSpPr>
              <p:spPr>
                <a:xfrm rot="10800000">
                  <a:off x="4959516" y="2905614"/>
                  <a:ext cx="0" cy="1080000"/>
                </a:xfrm>
                <a:prstGeom prst="straightConnector1">
                  <a:avLst/>
                </a:prstGeom>
                <a:noFill/>
                <a:ln cap="flat" cmpd="sng" w="12700">
                  <a:solidFill>
                    <a:srgbClr val="FFFFFF"/>
                  </a:solidFill>
                  <a:prstDash val="solid"/>
                  <a:miter lim="800000"/>
                  <a:headEnd len="med" w="med" type="none"/>
                  <a:tailEnd len="med" w="med" type="none"/>
                </a:ln>
              </p:spPr>
            </p:cxnSp>
          </p:grpSp>
        </p:grpSp>
      </p:grpSp>
      <p:sp>
        <p:nvSpPr>
          <p:cNvPr id="117" name="Google Shape;117;p1"/>
          <p:cNvSpPr/>
          <p:nvPr/>
        </p:nvSpPr>
        <p:spPr>
          <a:xfrm>
            <a:off x="6096000" y="0"/>
            <a:ext cx="6096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descr="Text&#10;&#10;Description automatically generated" id="118" name="Google Shape;118;p1"/>
          <p:cNvPicPr preferRelativeResize="0"/>
          <p:nvPr/>
        </p:nvPicPr>
        <p:blipFill rotWithShape="1">
          <a:blip r:embed="rId3">
            <a:alphaModFix/>
          </a:blip>
          <a:srcRect b="0" l="24461" r="24461" t="0"/>
          <a:stretch/>
        </p:blipFill>
        <p:spPr>
          <a:xfrm>
            <a:off x="6591301" y="1053907"/>
            <a:ext cx="5059712" cy="474753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ctrTitle"/>
          </p:nvPr>
        </p:nvSpPr>
        <p:spPr>
          <a:xfrm>
            <a:off x="2107200" y="525465"/>
            <a:ext cx="7977600" cy="85313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Sorts Mill Goudy"/>
              <a:buNone/>
            </a:pPr>
            <a:r>
              <a:rPr b="1" lang="en-US" sz="3600"/>
              <a:t>PARTICIPANTS AND THEIR ROLES</a:t>
            </a:r>
            <a:endParaRPr/>
          </a:p>
        </p:txBody>
      </p:sp>
      <p:sp>
        <p:nvSpPr>
          <p:cNvPr id="124" name="Google Shape;124;p2"/>
          <p:cNvSpPr txBox="1"/>
          <p:nvPr>
            <p:ph idx="1" type="subTitle"/>
          </p:nvPr>
        </p:nvSpPr>
        <p:spPr>
          <a:xfrm>
            <a:off x="1247774" y="1962150"/>
            <a:ext cx="10004943" cy="4370385"/>
          </a:xfrm>
          <a:prstGeom prst="rect">
            <a:avLst/>
          </a:prstGeom>
          <a:noFill/>
          <a:ln>
            <a:noFill/>
          </a:ln>
        </p:spPr>
        <p:txBody>
          <a:bodyPr anchorCtr="0" anchor="t" bIns="45700" lIns="91425" spcFirstLastPara="1" rIns="91425" wrap="square" tIns="45700">
            <a:normAutofit/>
          </a:bodyPr>
          <a:lstStyle/>
          <a:p>
            <a:pPr indent="0" lvl="0" marL="0" rtl="0" algn="l">
              <a:lnSpc>
                <a:spcPct val="200000"/>
              </a:lnSpc>
              <a:spcBef>
                <a:spcPts val="0"/>
              </a:spcBef>
              <a:spcAft>
                <a:spcPts val="0"/>
              </a:spcAft>
              <a:buSzPts val="2200"/>
              <a:buNone/>
            </a:pPr>
            <a:r>
              <a:rPr lang="en-US" sz="2200">
                <a:solidFill>
                  <a:srgbClr val="0C0C0C"/>
                </a:solidFill>
                <a:latin typeface="Aharoni"/>
                <a:ea typeface="Aharoni"/>
                <a:cs typeface="Aharoni"/>
                <a:sym typeface="Aharoni"/>
              </a:rPr>
              <a:t>Deepika Chintala - Model Building and Validation, project report.</a:t>
            </a:r>
            <a:endParaRPr/>
          </a:p>
          <a:p>
            <a:pPr indent="0" lvl="0" marL="0" rtl="0" algn="l">
              <a:lnSpc>
                <a:spcPct val="200000"/>
              </a:lnSpc>
              <a:spcBef>
                <a:spcPts val="1000"/>
              </a:spcBef>
              <a:spcAft>
                <a:spcPts val="0"/>
              </a:spcAft>
              <a:buSzPts val="2200"/>
              <a:buNone/>
            </a:pPr>
            <a:r>
              <a:rPr lang="en-US" sz="2200">
                <a:solidFill>
                  <a:srgbClr val="0C0C0C"/>
                </a:solidFill>
                <a:latin typeface="Aharoni"/>
                <a:ea typeface="Aharoni"/>
                <a:cs typeface="Aharoni"/>
                <a:sym typeface="Aharoni"/>
              </a:rPr>
              <a:t>Jyothirmai Kantipudi- Model Evaluation and increasing efficiency.</a:t>
            </a:r>
            <a:endParaRPr/>
          </a:p>
          <a:p>
            <a:pPr indent="0" lvl="0" marL="0" rtl="0" algn="l">
              <a:lnSpc>
                <a:spcPct val="200000"/>
              </a:lnSpc>
              <a:spcBef>
                <a:spcPts val="1000"/>
              </a:spcBef>
              <a:spcAft>
                <a:spcPts val="0"/>
              </a:spcAft>
              <a:buSzPts val="2200"/>
              <a:buNone/>
            </a:pPr>
            <a:r>
              <a:rPr lang="en-US" sz="2200">
                <a:solidFill>
                  <a:srgbClr val="0C0C0C"/>
                </a:solidFill>
                <a:latin typeface="Aharoni"/>
                <a:ea typeface="Aharoni"/>
                <a:cs typeface="Aharoni"/>
                <a:sym typeface="Aharoni"/>
              </a:rPr>
              <a:t>Madhulika Gangarajula - Data Visualization and project presentation.</a:t>
            </a:r>
            <a:endParaRPr/>
          </a:p>
          <a:p>
            <a:pPr indent="0" lvl="0" marL="0" rtl="0" algn="l">
              <a:lnSpc>
                <a:spcPct val="200000"/>
              </a:lnSpc>
              <a:spcBef>
                <a:spcPts val="1000"/>
              </a:spcBef>
              <a:spcAft>
                <a:spcPts val="0"/>
              </a:spcAft>
              <a:buSzPts val="2200"/>
              <a:buNone/>
            </a:pPr>
            <a:r>
              <a:rPr lang="en-US" sz="2200">
                <a:solidFill>
                  <a:srgbClr val="0C0C0C"/>
                </a:solidFill>
                <a:latin typeface="Aharoni"/>
                <a:ea typeface="Aharoni"/>
                <a:cs typeface="Aharoni"/>
                <a:sym typeface="Aharoni"/>
              </a:rPr>
              <a:t>Malavika Gudala -  Data Preprocessing.</a:t>
            </a:r>
            <a:endParaRPr/>
          </a:p>
          <a:p>
            <a:pPr indent="0" lvl="0" marL="0" rtl="0" algn="l">
              <a:lnSpc>
                <a:spcPct val="200000"/>
              </a:lnSpc>
              <a:spcBef>
                <a:spcPts val="1000"/>
              </a:spcBef>
              <a:spcAft>
                <a:spcPts val="0"/>
              </a:spcAft>
              <a:buSzPts val="2200"/>
              <a:buNone/>
            </a:pPr>
            <a:r>
              <a:rPr lang="en-US" sz="2200">
                <a:solidFill>
                  <a:srgbClr val="0C0C0C"/>
                </a:solidFill>
                <a:latin typeface="Aharoni"/>
                <a:ea typeface="Aharoni"/>
                <a:cs typeface="Aharoni"/>
                <a:sym typeface="Aharoni"/>
              </a:rPr>
              <a:t>Tarun Konda - Data Preparation.</a:t>
            </a:r>
            <a:endParaRPr/>
          </a:p>
          <a:p>
            <a:pPr indent="0" lvl="0" marL="0" rtl="0" algn="l">
              <a:lnSpc>
                <a:spcPct val="125000"/>
              </a:lnSpc>
              <a:spcBef>
                <a:spcPts val="1000"/>
              </a:spcBef>
              <a:spcAft>
                <a:spcPts val="0"/>
              </a:spcAft>
              <a:buSzPts val="2400"/>
              <a:buNone/>
            </a:pPr>
            <a:r>
              <a:t/>
            </a:r>
            <a:endParaRPr>
              <a:solidFill>
                <a:srgbClr val="0C0C0C"/>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8" name="Shape 128"/>
        <p:cNvGrpSpPr/>
        <p:nvPr/>
      </p:nvGrpSpPr>
      <p:grpSpPr>
        <a:xfrm>
          <a:off x="0" y="0"/>
          <a:ext cx="0" cy="0"/>
          <a:chOff x="0" y="0"/>
          <a:chExt cx="0" cy="0"/>
        </a:xfrm>
      </p:grpSpPr>
      <p:sp>
        <p:nvSpPr>
          <p:cNvPr id="129" name="Google Shape;129;p3"/>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venir"/>
              <a:ea typeface="Avenir"/>
              <a:cs typeface="Avenir"/>
              <a:sym typeface="Avenir"/>
            </a:endParaRPr>
          </a:p>
        </p:txBody>
      </p:sp>
      <p:sp>
        <p:nvSpPr>
          <p:cNvPr id="130" name="Google Shape;130;p3"/>
          <p:cNvSpPr txBox="1"/>
          <p:nvPr>
            <p:ph type="title"/>
          </p:nvPr>
        </p:nvSpPr>
        <p:spPr>
          <a:xfrm>
            <a:off x="1078100" y="542671"/>
            <a:ext cx="10026650" cy="112420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Sorts Mill Goudy"/>
              <a:buNone/>
            </a:pPr>
            <a:r>
              <a:rPr b="1" lang="en-US"/>
              <a:t>WORKFLOW OF DESIGN</a:t>
            </a:r>
            <a:endParaRPr/>
          </a:p>
        </p:txBody>
      </p:sp>
      <p:sp>
        <p:nvSpPr>
          <p:cNvPr id="131" name="Google Shape;131;p3"/>
          <p:cNvSpPr/>
          <p:nvPr/>
        </p:nvSpPr>
        <p:spPr>
          <a:xfrm>
            <a:off x="0" y="2252664"/>
            <a:ext cx="12192000" cy="46053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32" name="Google Shape;132;p3"/>
          <p:cNvSpPr txBox="1"/>
          <p:nvPr/>
        </p:nvSpPr>
        <p:spPr>
          <a:xfrm>
            <a:off x="1451667" y="2850976"/>
            <a:ext cx="1891653" cy="590931"/>
          </a:xfrm>
          <a:prstGeom prst="rect">
            <a:avLst/>
          </a:prstGeom>
          <a:solidFill>
            <a:srgbClr val="225756"/>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Research and planning</a:t>
            </a:r>
            <a:endParaRPr sz="1800">
              <a:solidFill>
                <a:schemeClr val="dk1"/>
              </a:solidFill>
              <a:latin typeface="Avenir"/>
              <a:ea typeface="Avenir"/>
              <a:cs typeface="Avenir"/>
              <a:sym typeface="Avenir"/>
            </a:endParaRPr>
          </a:p>
        </p:txBody>
      </p:sp>
      <p:sp>
        <p:nvSpPr>
          <p:cNvPr id="133" name="Google Shape;133;p3"/>
          <p:cNvSpPr txBox="1"/>
          <p:nvPr/>
        </p:nvSpPr>
        <p:spPr>
          <a:xfrm>
            <a:off x="1442003" y="4334274"/>
            <a:ext cx="1881989" cy="695575"/>
          </a:xfrm>
          <a:prstGeom prst="rect">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rgbClr val="374151"/>
                </a:solidFill>
                <a:latin typeface="Arial"/>
                <a:ea typeface="Arial"/>
                <a:cs typeface="Arial"/>
                <a:sym typeface="Arial"/>
              </a:rPr>
              <a:t>Data Collection</a:t>
            </a:r>
            <a:endParaRPr/>
          </a:p>
          <a:p>
            <a:pPr indent="0" lvl="0" marL="0" marR="0" rtl="0" algn="l">
              <a:spcBef>
                <a:spcPts val="600"/>
              </a:spcBef>
              <a:spcAft>
                <a:spcPts val="0"/>
              </a:spcAft>
              <a:buNone/>
            </a:pPr>
            <a:r>
              <a:t/>
            </a:r>
            <a:endParaRPr sz="1800">
              <a:solidFill>
                <a:schemeClr val="dk1"/>
              </a:solidFill>
              <a:latin typeface="Avenir"/>
              <a:ea typeface="Avenir"/>
              <a:cs typeface="Avenir"/>
              <a:sym typeface="Avenir"/>
            </a:endParaRPr>
          </a:p>
        </p:txBody>
      </p:sp>
      <p:sp>
        <p:nvSpPr>
          <p:cNvPr id="134" name="Google Shape;134;p3"/>
          <p:cNvSpPr txBox="1"/>
          <p:nvPr/>
        </p:nvSpPr>
        <p:spPr>
          <a:xfrm>
            <a:off x="1442003" y="5728316"/>
            <a:ext cx="1891652" cy="695575"/>
          </a:xfrm>
          <a:prstGeom prst="rect">
            <a:avLst/>
          </a:prstGeom>
          <a:solidFill>
            <a:srgbClr val="225756"/>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Data cleaning</a:t>
            </a:r>
            <a:endParaRPr/>
          </a:p>
          <a:p>
            <a:pPr indent="0" lvl="0" marL="0" marR="0" rtl="0" algn="l">
              <a:spcBef>
                <a:spcPts val="600"/>
              </a:spcBef>
              <a:spcAft>
                <a:spcPts val="0"/>
              </a:spcAft>
              <a:buNone/>
            </a:pPr>
            <a:r>
              <a:t/>
            </a:r>
            <a:endParaRPr sz="1800">
              <a:solidFill>
                <a:schemeClr val="dk1"/>
              </a:solidFill>
              <a:latin typeface="Avenir"/>
              <a:ea typeface="Avenir"/>
              <a:cs typeface="Avenir"/>
              <a:sym typeface="Avenir"/>
            </a:endParaRPr>
          </a:p>
        </p:txBody>
      </p:sp>
      <p:sp>
        <p:nvSpPr>
          <p:cNvPr id="135" name="Google Shape;135;p3"/>
          <p:cNvSpPr txBox="1"/>
          <p:nvPr/>
        </p:nvSpPr>
        <p:spPr>
          <a:xfrm>
            <a:off x="3875231" y="5780637"/>
            <a:ext cx="1807579" cy="590931"/>
          </a:xfrm>
          <a:prstGeom prst="rect">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Feature Engineering</a:t>
            </a:r>
            <a:endParaRPr sz="1800">
              <a:solidFill>
                <a:schemeClr val="dk1"/>
              </a:solidFill>
              <a:latin typeface="Avenir"/>
              <a:ea typeface="Avenir"/>
              <a:cs typeface="Avenir"/>
              <a:sym typeface="Avenir"/>
            </a:endParaRPr>
          </a:p>
        </p:txBody>
      </p:sp>
      <p:sp>
        <p:nvSpPr>
          <p:cNvPr id="136" name="Google Shape;136;p3"/>
          <p:cNvSpPr txBox="1"/>
          <p:nvPr/>
        </p:nvSpPr>
        <p:spPr>
          <a:xfrm>
            <a:off x="6376504" y="4334274"/>
            <a:ext cx="1807580" cy="695575"/>
          </a:xfrm>
          <a:prstGeom prst="rect">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Model Testing</a:t>
            </a:r>
            <a:endParaRPr/>
          </a:p>
          <a:p>
            <a:pPr indent="0" lvl="0" marL="0" marR="0" rtl="0" algn="l">
              <a:spcBef>
                <a:spcPts val="600"/>
              </a:spcBef>
              <a:spcAft>
                <a:spcPts val="0"/>
              </a:spcAft>
              <a:buNone/>
            </a:pPr>
            <a:r>
              <a:t/>
            </a:r>
            <a:endParaRPr sz="1800">
              <a:solidFill>
                <a:schemeClr val="dk1"/>
              </a:solidFill>
              <a:latin typeface="Avenir"/>
              <a:ea typeface="Avenir"/>
              <a:cs typeface="Avenir"/>
              <a:sym typeface="Avenir"/>
            </a:endParaRPr>
          </a:p>
        </p:txBody>
      </p:sp>
      <p:sp>
        <p:nvSpPr>
          <p:cNvPr id="137" name="Google Shape;137;p3"/>
          <p:cNvSpPr txBox="1"/>
          <p:nvPr/>
        </p:nvSpPr>
        <p:spPr>
          <a:xfrm>
            <a:off x="6405932" y="2850796"/>
            <a:ext cx="1748727" cy="695575"/>
          </a:xfrm>
          <a:prstGeom prst="rect">
            <a:avLst/>
          </a:prstGeom>
          <a:solidFill>
            <a:srgbClr val="225756"/>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Model Training</a:t>
            </a:r>
            <a:endParaRPr/>
          </a:p>
          <a:p>
            <a:pPr indent="0" lvl="0" marL="0" marR="0" rtl="0" algn="l">
              <a:spcBef>
                <a:spcPts val="600"/>
              </a:spcBef>
              <a:spcAft>
                <a:spcPts val="0"/>
              </a:spcAft>
              <a:buNone/>
            </a:pPr>
            <a:r>
              <a:t/>
            </a:r>
            <a:endParaRPr sz="1800">
              <a:solidFill>
                <a:schemeClr val="dk1"/>
              </a:solidFill>
              <a:latin typeface="Avenir"/>
              <a:ea typeface="Avenir"/>
              <a:cs typeface="Avenir"/>
              <a:sym typeface="Avenir"/>
            </a:endParaRPr>
          </a:p>
        </p:txBody>
      </p:sp>
      <p:sp>
        <p:nvSpPr>
          <p:cNvPr id="138" name="Google Shape;138;p3"/>
          <p:cNvSpPr txBox="1"/>
          <p:nvPr/>
        </p:nvSpPr>
        <p:spPr>
          <a:xfrm>
            <a:off x="3957775" y="2790103"/>
            <a:ext cx="1828294" cy="695575"/>
          </a:xfrm>
          <a:prstGeom prst="rect">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Model Selection</a:t>
            </a:r>
            <a:endParaRPr/>
          </a:p>
          <a:p>
            <a:pPr indent="0" lvl="0" marL="0" marR="0" rtl="0" algn="l">
              <a:spcBef>
                <a:spcPts val="600"/>
              </a:spcBef>
              <a:spcAft>
                <a:spcPts val="0"/>
              </a:spcAft>
              <a:buNone/>
            </a:pPr>
            <a:r>
              <a:t/>
            </a:r>
            <a:endParaRPr sz="1800">
              <a:solidFill>
                <a:schemeClr val="dk1"/>
              </a:solidFill>
              <a:latin typeface="Avenir"/>
              <a:ea typeface="Avenir"/>
              <a:cs typeface="Avenir"/>
              <a:sym typeface="Avenir"/>
            </a:endParaRPr>
          </a:p>
        </p:txBody>
      </p:sp>
      <p:sp>
        <p:nvSpPr>
          <p:cNvPr id="139" name="Google Shape;139;p3"/>
          <p:cNvSpPr txBox="1"/>
          <p:nvPr/>
        </p:nvSpPr>
        <p:spPr>
          <a:xfrm>
            <a:off x="3873601" y="4334275"/>
            <a:ext cx="1807580" cy="590931"/>
          </a:xfrm>
          <a:prstGeom prst="rect">
            <a:avLst/>
          </a:prstGeom>
          <a:solidFill>
            <a:srgbClr val="225756"/>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Data Transformation</a:t>
            </a:r>
            <a:endParaRPr sz="1800">
              <a:solidFill>
                <a:schemeClr val="dk1"/>
              </a:solidFill>
              <a:latin typeface="Avenir"/>
              <a:ea typeface="Avenir"/>
              <a:cs typeface="Avenir"/>
              <a:sym typeface="Avenir"/>
            </a:endParaRPr>
          </a:p>
        </p:txBody>
      </p:sp>
      <p:sp>
        <p:nvSpPr>
          <p:cNvPr id="140" name="Google Shape;140;p3"/>
          <p:cNvSpPr txBox="1"/>
          <p:nvPr/>
        </p:nvSpPr>
        <p:spPr>
          <a:xfrm>
            <a:off x="6334469" y="5728316"/>
            <a:ext cx="1891652" cy="590931"/>
          </a:xfrm>
          <a:prstGeom prst="rect">
            <a:avLst/>
          </a:prstGeom>
          <a:solidFill>
            <a:srgbClr val="225756"/>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Model Deployment</a:t>
            </a:r>
            <a:endParaRPr sz="1800">
              <a:solidFill>
                <a:schemeClr val="dk1"/>
              </a:solidFill>
              <a:latin typeface="Avenir"/>
              <a:ea typeface="Avenir"/>
              <a:cs typeface="Avenir"/>
              <a:sym typeface="Avenir"/>
            </a:endParaRPr>
          </a:p>
        </p:txBody>
      </p:sp>
      <p:sp>
        <p:nvSpPr>
          <p:cNvPr id="141" name="Google Shape;141;p3"/>
          <p:cNvSpPr txBox="1"/>
          <p:nvPr/>
        </p:nvSpPr>
        <p:spPr>
          <a:xfrm>
            <a:off x="8858693" y="5732954"/>
            <a:ext cx="1891653" cy="590931"/>
          </a:xfrm>
          <a:prstGeom prst="rect">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20">
                <a:solidFill>
                  <a:schemeClr val="dk1"/>
                </a:solidFill>
                <a:latin typeface="Avenir"/>
                <a:ea typeface="Avenir"/>
                <a:cs typeface="Avenir"/>
                <a:sym typeface="Avenir"/>
              </a:rPr>
              <a:t>Monitoring and Maintenance</a:t>
            </a:r>
            <a:endParaRPr sz="1800">
              <a:solidFill>
                <a:schemeClr val="dk1"/>
              </a:solidFill>
              <a:latin typeface="Avenir"/>
              <a:ea typeface="Avenir"/>
              <a:cs typeface="Avenir"/>
              <a:sym typeface="Avenir"/>
            </a:endParaRPr>
          </a:p>
        </p:txBody>
      </p:sp>
      <p:cxnSp>
        <p:nvCxnSpPr>
          <p:cNvPr id="142" name="Google Shape;142;p3"/>
          <p:cNvCxnSpPr/>
          <p:nvPr/>
        </p:nvCxnSpPr>
        <p:spPr>
          <a:xfrm>
            <a:off x="2248678" y="3441907"/>
            <a:ext cx="0" cy="892367"/>
          </a:xfrm>
          <a:prstGeom prst="straightConnector1">
            <a:avLst/>
          </a:prstGeom>
          <a:noFill/>
          <a:ln cap="flat" cmpd="sng" w="9525">
            <a:solidFill>
              <a:schemeClr val="dk1"/>
            </a:solidFill>
            <a:prstDash val="solid"/>
            <a:round/>
            <a:headEnd len="sm" w="sm" type="none"/>
            <a:tailEnd len="med" w="med" type="triangle"/>
          </a:ln>
        </p:spPr>
      </p:cxnSp>
      <p:cxnSp>
        <p:nvCxnSpPr>
          <p:cNvPr id="143" name="Google Shape;143;p3"/>
          <p:cNvCxnSpPr/>
          <p:nvPr/>
        </p:nvCxnSpPr>
        <p:spPr>
          <a:xfrm>
            <a:off x="2247258" y="5029849"/>
            <a:ext cx="0" cy="689557"/>
          </a:xfrm>
          <a:prstGeom prst="straightConnector1">
            <a:avLst/>
          </a:prstGeom>
          <a:noFill/>
          <a:ln cap="flat" cmpd="sng" w="9525">
            <a:solidFill>
              <a:schemeClr val="dk1"/>
            </a:solidFill>
            <a:prstDash val="solid"/>
            <a:round/>
            <a:headEnd len="sm" w="sm" type="none"/>
            <a:tailEnd len="med" w="med" type="triangle"/>
          </a:ln>
        </p:spPr>
      </p:cxnSp>
      <p:cxnSp>
        <p:nvCxnSpPr>
          <p:cNvPr id="144" name="Google Shape;144;p3"/>
          <p:cNvCxnSpPr>
            <a:stCxn id="134" idx="3"/>
            <a:endCxn id="134" idx="3"/>
          </p:cNvCxnSpPr>
          <p:nvPr/>
        </p:nvCxnSpPr>
        <p:spPr>
          <a:xfrm>
            <a:off x="3333655" y="6076104"/>
            <a:ext cx="0" cy="0"/>
          </a:xfrm>
          <a:prstGeom prst="straightConnector1">
            <a:avLst/>
          </a:prstGeom>
          <a:noFill/>
          <a:ln cap="flat" cmpd="sng" w="9525">
            <a:solidFill>
              <a:schemeClr val="accent1"/>
            </a:solidFill>
            <a:prstDash val="solid"/>
            <a:round/>
            <a:headEnd len="sm" w="sm" type="none"/>
            <a:tailEnd len="med" w="med" type="triangle"/>
          </a:ln>
        </p:spPr>
      </p:cxnSp>
      <p:cxnSp>
        <p:nvCxnSpPr>
          <p:cNvPr id="145" name="Google Shape;145;p3"/>
          <p:cNvCxnSpPr>
            <a:stCxn id="134" idx="3"/>
            <a:endCxn id="135" idx="1"/>
          </p:cNvCxnSpPr>
          <p:nvPr/>
        </p:nvCxnSpPr>
        <p:spPr>
          <a:xfrm>
            <a:off x="3333655" y="6076104"/>
            <a:ext cx="541500" cy="0"/>
          </a:xfrm>
          <a:prstGeom prst="straightConnector1">
            <a:avLst/>
          </a:prstGeom>
          <a:noFill/>
          <a:ln cap="flat" cmpd="sng" w="9525">
            <a:solidFill>
              <a:schemeClr val="dk1"/>
            </a:solidFill>
            <a:prstDash val="solid"/>
            <a:round/>
            <a:headEnd len="sm" w="sm" type="none"/>
            <a:tailEnd len="med" w="med" type="triangle"/>
          </a:ln>
        </p:spPr>
      </p:cxnSp>
      <p:cxnSp>
        <p:nvCxnSpPr>
          <p:cNvPr id="146" name="Google Shape;146;p3"/>
          <p:cNvCxnSpPr/>
          <p:nvPr/>
        </p:nvCxnSpPr>
        <p:spPr>
          <a:xfrm rot="10800000">
            <a:off x="4655976" y="4925206"/>
            <a:ext cx="0" cy="848597"/>
          </a:xfrm>
          <a:prstGeom prst="straightConnector1">
            <a:avLst/>
          </a:prstGeom>
          <a:noFill/>
          <a:ln cap="flat" cmpd="sng" w="9525">
            <a:solidFill>
              <a:schemeClr val="dk1"/>
            </a:solidFill>
            <a:prstDash val="solid"/>
            <a:round/>
            <a:headEnd len="sm" w="sm" type="none"/>
            <a:tailEnd len="med" w="med" type="triangle"/>
          </a:ln>
        </p:spPr>
      </p:cxnSp>
      <p:cxnSp>
        <p:nvCxnSpPr>
          <p:cNvPr id="147" name="Google Shape;147;p3"/>
          <p:cNvCxnSpPr/>
          <p:nvPr/>
        </p:nvCxnSpPr>
        <p:spPr>
          <a:xfrm rot="10800000">
            <a:off x="4665424" y="3485678"/>
            <a:ext cx="0" cy="848597"/>
          </a:xfrm>
          <a:prstGeom prst="straightConnector1">
            <a:avLst/>
          </a:prstGeom>
          <a:noFill/>
          <a:ln cap="flat" cmpd="sng" w="9525">
            <a:solidFill>
              <a:schemeClr val="dk1"/>
            </a:solidFill>
            <a:prstDash val="solid"/>
            <a:round/>
            <a:headEnd len="sm" w="sm" type="none"/>
            <a:tailEnd len="med" w="med" type="triangle"/>
          </a:ln>
        </p:spPr>
      </p:cxnSp>
      <p:cxnSp>
        <p:nvCxnSpPr>
          <p:cNvPr id="148" name="Google Shape;148;p3"/>
          <p:cNvCxnSpPr>
            <a:stCxn id="138" idx="3"/>
          </p:cNvCxnSpPr>
          <p:nvPr/>
        </p:nvCxnSpPr>
        <p:spPr>
          <a:xfrm>
            <a:off x="5786069" y="3137891"/>
            <a:ext cx="619800" cy="0"/>
          </a:xfrm>
          <a:prstGeom prst="straightConnector1">
            <a:avLst/>
          </a:prstGeom>
          <a:noFill/>
          <a:ln cap="flat" cmpd="sng" w="9525">
            <a:solidFill>
              <a:schemeClr val="dk1"/>
            </a:solidFill>
            <a:prstDash val="solid"/>
            <a:round/>
            <a:headEnd len="sm" w="sm" type="none"/>
            <a:tailEnd len="med" w="med" type="triangle"/>
          </a:ln>
        </p:spPr>
      </p:cxnSp>
      <p:cxnSp>
        <p:nvCxnSpPr>
          <p:cNvPr id="149" name="Google Shape;149;p3"/>
          <p:cNvCxnSpPr>
            <a:stCxn id="137" idx="2"/>
            <a:endCxn id="136" idx="0"/>
          </p:cNvCxnSpPr>
          <p:nvPr/>
        </p:nvCxnSpPr>
        <p:spPr>
          <a:xfrm>
            <a:off x="7280296" y="3546371"/>
            <a:ext cx="0" cy="787800"/>
          </a:xfrm>
          <a:prstGeom prst="straightConnector1">
            <a:avLst/>
          </a:prstGeom>
          <a:noFill/>
          <a:ln cap="flat" cmpd="sng" w="9525">
            <a:solidFill>
              <a:schemeClr val="dk1"/>
            </a:solidFill>
            <a:prstDash val="solid"/>
            <a:round/>
            <a:headEnd len="sm" w="sm" type="none"/>
            <a:tailEnd len="med" w="med" type="triangle"/>
          </a:ln>
        </p:spPr>
      </p:cxnSp>
      <p:cxnSp>
        <p:nvCxnSpPr>
          <p:cNvPr id="150" name="Google Shape;150;p3"/>
          <p:cNvCxnSpPr>
            <a:stCxn id="136" idx="2"/>
            <a:endCxn id="140" idx="0"/>
          </p:cNvCxnSpPr>
          <p:nvPr/>
        </p:nvCxnSpPr>
        <p:spPr>
          <a:xfrm>
            <a:off x="7280294" y="5029849"/>
            <a:ext cx="0" cy="698400"/>
          </a:xfrm>
          <a:prstGeom prst="straightConnector1">
            <a:avLst/>
          </a:prstGeom>
          <a:noFill/>
          <a:ln cap="flat" cmpd="sng" w="9525">
            <a:solidFill>
              <a:schemeClr val="dk1"/>
            </a:solidFill>
            <a:prstDash val="solid"/>
            <a:round/>
            <a:headEnd len="sm" w="sm" type="none"/>
            <a:tailEnd len="med" w="med" type="triangle"/>
          </a:ln>
        </p:spPr>
      </p:cxnSp>
      <p:cxnSp>
        <p:nvCxnSpPr>
          <p:cNvPr id="151" name="Google Shape;151;p3"/>
          <p:cNvCxnSpPr>
            <a:stCxn id="140" idx="3"/>
            <a:endCxn id="141" idx="1"/>
          </p:cNvCxnSpPr>
          <p:nvPr/>
        </p:nvCxnSpPr>
        <p:spPr>
          <a:xfrm>
            <a:off x="8226121" y="6023782"/>
            <a:ext cx="632700" cy="450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5" name="Shape 155"/>
        <p:cNvGrpSpPr/>
        <p:nvPr/>
      </p:nvGrpSpPr>
      <p:grpSpPr>
        <a:xfrm>
          <a:off x="0" y="0"/>
          <a:ext cx="0" cy="0"/>
          <a:chOff x="0" y="0"/>
          <a:chExt cx="0" cy="0"/>
        </a:xfrm>
      </p:grpSpPr>
      <p:sp>
        <p:nvSpPr>
          <p:cNvPr id="156" name="Google Shape;156;p4"/>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57" name="Google Shape;157;p4"/>
          <p:cNvSpPr txBox="1"/>
          <p:nvPr>
            <p:ph type="title"/>
          </p:nvPr>
        </p:nvSpPr>
        <p:spPr>
          <a:xfrm>
            <a:off x="7112369" y="536576"/>
            <a:ext cx="4078800" cy="1073564"/>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Sorts Mill Goudy"/>
              <a:buNone/>
            </a:pPr>
            <a:r>
              <a:rPr b="1" lang="en-US" sz="4400"/>
              <a:t>ABSTRACT</a:t>
            </a:r>
            <a:endParaRPr/>
          </a:p>
        </p:txBody>
      </p:sp>
      <p:sp>
        <p:nvSpPr>
          <p:cNvPr id="158" name="Google Shape;158;p4"/>
          <p:cNvSpPr/>
          <p:nvPr/>
        </p:nvSpPr>
        <p:spPr>
          <a:xfrm>
            <a:off x="0" y="0"/>
            <a:ext cx="6096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id="159" name="Google Shape;159;p4"/>
          <p:cNvPicPr preferRelativeResize="0"/>
          <p:nvPr/>
        </p:nvPicPr>
        <p:blipFill rotWithShape="1">
          <a:blip r:embed="rId3">
            <a:alphaModFix/>
          </a:blip>
          <a:srcRect b="1" l="14062" r="15938" t="0"/>
          <a:stretch/>
        </p:blipFill>
        <p:spPr>
          <a:xfrm>
            <a:off x="129200" y="241575"/>
            <a:ext cx="5876252" cy="6331224"/>
          </a:xfrm>
          <a:prstGeom prst="rect">
            <a:avLst/>
          </a:prstGeom>
          <a:noFill/>
          <a:ln>
            <a:noFill/>
          </a:ln>
        </p:spPr>
      </p:pic>
      <p:cxnSp>
        <p:nvCxnSpPr>
          <p:cNvPr id="160" name="Google Shape;160;p4"/>
          <p:cNvCxnSpPr/>
          <p:nvPr/>
        </p:nvCxnSpPr>
        <p:spPr>
          <a:xfrm>
            <a:off x="8881769" y="2428148"/>
            <a:ext cx="540000" cy="0"/>
          </a:xfrm>
          <a:prstGeom prst="straightConnector1">
            <a:avLst/>
          </a:prstGeom>
          <a:noFill/>
          <a:ln cap="flat" cmpd="sng" w="12700">
            <a:solidFill>
              <a:srgbClr val="FFFFFF"/>
            </a:solidFill>
            <a:prstDash val="solid"/>
            <a:round/>
            <a:headEnd len="sm" w="sm" type="none"/>
            <a:tailEnd len="sm" w="sm" type="none"/>
          </a:ln>
        </p:spPr>
      </p:cxnSp>
      <p:sp>
        <p:nvSpPr>
          <p:cNvPr id="161" name="Google Shape;161;p4"/>
          <p:cNvSpPr txBox="1"/>
          <p:nvPr>
            <p:ph idx="1" type="body"/>
          </p:nvPr>
        </p:nvSpPr>
        <p:spPr>
          <a:xfrm>
            <a:off x="6440558" y="2146716"/>
            <a:ext cx="5357190" cy="4095058"/>
          </a:xfrm>
          <a:prstGeom prst="rect">
            <a:avLst/>
          </a:prstGeom>
          <a:noFill/>
          <a:ln>
            <a:noFill/>
          </a:ln>
        </p:spPr>
        <p:txBody>
          <a:bodyPr anchorCtr="0" anchor="t" bIns="45700" lIns="91425" spcFirstLastPara="1" rIns="91425" wrap="square" tIns="45700">
            <a:noAutofit/>
          </a:bodyPr>
          <a:lstStyle/>
          <a:p>
            <a:pPr indent="0" lvl="0" marL="0" rtl="0" algn="just">
              <a:lnSpc>
                <a:spcPct val="140000"/>
              </a:lnSpc>
              <a:spcBef>
                <a:spcPts val="0"/>
              </a:spcBef>
              <a:spcAft>
                <a:spcPts val="0"/>
              </a:spcAft>
              <a:buSzPts val="1600"/>
              <a:buNone/>
            </a:pPr>
            <a:r>
              <a:rPr lang="en-US">
                <a:solidFill>
                  <a:srgbClr val="0C0C0C"/>
                </a:solidFill>
                <a:latin typeface="Aharoni"/>
                <a:ea typeface="Aharoni"/>
                <a:cs typeface="Aharoni"/>
                <a:sym typeface="Aharoni"/>
              </a:rPr>
              <a:t>E-coupons are used to lower the cost of a product or items that customers buy from any online store, making it more beneficial for customers. A well-liked strategy for boosting sales in e-commerce settings is the distribution of discount coupons and barter purchases to the customers. Before that we need to know if the customer is willing to use coupon or not. For that we use machine learning to do the predictions.</a:t>
            </a:r>
            <a:endParaRPr>
              <a:solidFill>
                <a:srgbClr val="0C0C0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5"/>
          <p:cNvSpPr txBox="1"/>
          <p:nvPr>
            <p:ph type="title"/>
          </p:nvPr>
        </p:nvSpPr>
        <p:spPr>
          <a:xfrm>
            <a:off x="989400" y="348636"/>
            <a:ext cx="10213200" cy="1112836"/>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Sorts Mill Goudy"/>
              <a:buNone/>
            </a:pPr>
            <a:r>
              <a:rPr b="1" lang="en-US" sz="4000"/>
              <a:t>PROBLEM STATEMENT</a:t>
            </a:r>
            <a:endParaRPr/>
          </a:p>
        </p:txBody>
      </p:sp>
      <p:sp>
        <p:nvSpPr>
          <p:cNvPr id="167" name="Google Shape;167;p5"/>
          <p:cNvSpPr txBox="1"/>
          <p:nvPr>
            <p:ph idx="1" type="body"/>
          </p:nvPr>
        </p:nvSpPr>
        <p:spPr>
          <a:xfrm>
            <a:off x="821450" y="1919650"/>
            <a:ext cx="10213200" cy="35232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2000"/>
              <a:buNone/>
            </a:pPr>
            <a:r>
              <a:rPr lang="en-US" sz="2700">
                <a:solidFill>
                  <a:srgbClr val="595959"/>
                </a:solidFill>
                <a:latin typeface="Aharoni"/>
                <a:ea typeface="Aharoni"/>
                <a:cs typeface="Aharoni"/>
                <a:sym typeface="Aharoni"/>
              </a:rPr>
              <a:t>Our proposal utilizes on user data analysis, which is used to forecast whether a user will buy coupons or not according to data on previously made purchases. It's critical to forecast the possibility that a consumer will utilize a coupon in order to increase the coupon usage ratio. We employ machine learning algorithms like Naïve bayes to address the challenge of predicting the probability of coupon redemption as a binary classification problem.</a:t>
            </a:r>
            <a:endParaRPr sz="270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6"/>
          <p:cNvSpPr txBox="1"/>
          <p:nvPr>
            <p:ph type="title"/>
          </p:nvPr>
        </p:nvSpPr>
        <p:spPr>
          <a:xfrm>
            <a:off x="989400" y="107300"/>
            <a:ext cx="10213200" cy="10005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Sorts Mill Goudy"/>
              <a:buNone/>
            </a:pPr>
            <a:r>
              <a:rPr b="1" lang="en-US" sz="3600"/>
              <a:t>DESCRIPTION OF DATASET</a:t>
            </a:r>
            <a:endParaRPr/>
          </a:p>
        </p:txBody>
      </p:sp>
      <p:sp>
        <p:nvSpPr>
          <p:cNvPr id="173" name="Google Shape;173;p6"/>
          <p:cNvSpPr txBox="1"/>
          <p:nvPr>
            <p:ph idx="1" type="body"/>
          </p:nvPr>
        </p:nvSpPr>
        <p:spPr>
          <a:xfrm>
            <a:off x="713925" y="1366950"/>
            <a:ext cx="10888200" cy="5250300"/>
          </a:xfrm>
          <a:prstGeom prst="rect">
            <a:avLst/>
          </a:prstGeom>
          <a:noFill/>
          <a:ln>
            <a:noFill/>
          </a:ln>
        </p:spPr>
        <p:txBody>
          <a:bodyPr anchorCtr="0" anchor="t" bIns="45700" lIns="91425" spcFirstLastPara="1" rIns="91425" wrap="square" tIns="45700">
            <a:normAutofit fontScale="77500" lnSpcReduction="10000"/>
          </a:bodyPr>
          <a:lstStyle/>
          <a:p>
            <a:pPr indent="0" lvl="0" marL="0" rtl="0" algn="l">
              <a:lnSpc>
                <a:spcPct val="150000"/>
              </a:lnSpc>
              <a:spcBef>
                <a:spcPts val="0"/>
              </a:spcBef>
              <a:spcAft>
                <a:spcPts val="0"/>
              </a:spcAft>
              <a:buSzPct val="60452"/>
              <a:buNone/>
            </a:pPr>
            <a:r>
              <a:rPr lang="en-US" sz="2646">
                <a:solidFill>
                  <a:srgbClr val="595959"/>
                </a:solidFill>
                <a:latin typeface="Aharoni"/>
                <a:ea typeface="Aharoni"/>
                <a:cs typeface="Aharoni"/>
                <a:sym typeface="Aharoni"/>
              </a:rPr>
              <a:t>The dataset we used is the coupon redemption dataset from the Kaggle .Our dataset contains:</a:t>
            </a:r>
            <a:endParaRPr sz="3046"/>
          </a:p>
          <a:p>
            <a:pPr indent="-388651" lvl="0" marL="360000" rtl="0" algn="l">
              <a:lnSpc>
                <a:spcPct val="150000"/>
              </a:lnSpc>
              <a:spcBef>
                <a:spcPts val="1000"/>
              </a:spcBef>
              <a:spcAft>
                <a:spcPts val="0"/>
              </a:spcAft>
              <a:buSzPct val="100000"/>
              <a:buFont typeface="Noto Sans Symbols"/>
              <a:buChar char="✔"/>
            </a:pPr>
            <a:r>
              <a:rPr lang="en-US" sz="2646">
                <a:solidFill>
                  <a:srgbClr val="595959"/>
                </a:solidFill>
                <a:latin typeface="Aharoni"/>
                <a:ea typeface="Aharoni"/>
                <a:cs typeface="Aharoni"/>
                <a:sym typeface="Aharoni"/>
              </a:rPr>
              <a:t>Campaign data - The different marketing campaigns along with their respective ids, start date and end date.</a:t>
            </a:r>
            <a:endParaRPr sz="3046"/>
          </a:p>
          <a:p>
            <a:pPr indent="-388651" lvl="0" marL="360000" rtl="0" algn="l">
              <a:lnSpc>
                <a:spcPct val="150000"/>
              </a:lnSpc>
              <a:spcBef>
                <a:spcPts val="1000"/>
              </a:spcBef>
              <a:spcAft>
                <a:spcPts val="0"/>
              </a:spcAft>
              <a:buSzPct val="100000"/>
              <a:buFont typeface="Noto Sans Symbols"/>
              <a:buChar char="✔"/>
            </a:pPr>
            <a:r>
              <a:rPr lang="en-US" sz="2646">
                <a:solidFill>
                  <a:srgbClr val="595959"/>
                </a:solidFill>
                <a:latin typeface="Aharoni"/>
                <a:ea typeface="Aharoni"/>
                <a:cs typeface="Aharoni"/>
                <a:sym typeface="Aharoni"/>
              </a:rPr>
              <a:t>C</a:t>
            </a:r>
            <a:r>
              <a:rPr b="0" i="0" lang="en-US" sz="2646">
                <a:solidFill>
                  <a:srgbClr val="595959"/>
                </a:solidFill>
                <a:latin typeface="Aharoni"/>
                <a:ea typeface="Aharoni"/>
                <a:cs typeface="Aharoni"/>
                <a:sym typeface="Aharoni"/>
              </a:rPr>
              <a:t>oupon</a:t>
            </a:r>
            <a:r>
              <a:rPr lang="en-US" sz="2646">
                <a:solidFill>
                  <a:srgbClr val="595959"/>
                </a:solidFill>
                <a:latin typeface="Aharoni"/>
                <a:ea typeface="Aharoni"/>
                <a:cs typeface="Aharoni"/>
                <a:sym typeface="Aharoni"/>
              </a:rPr>
              <a:t> </a:t>
            </a:r>
            <a:r>
              <a:rPr b="0" i="0" lang="en-US" sz="2646">
                <a:solidFill>
                  <a:srgbClr val="595959"/>
                </a:solidFill>
                <a:latin typeface="Aharoni"/>
                <a:ea typeface="Aharoni"/>
                <a:cs typeface="Aharoni"/>
                <a:sym typeface="Aharoni"/>
              </a:rPr>
              <a:t>item</a:t>
            </a:r>
            <a:r>
              <a:rPr lang="en-US" sz="2646">
                <a:solidFill>
                  <a:srgbClr val="595959"/>
                </a:solidFill>
                <a:latin typeface="Aharoni"/>
                <a:ea typeface="Aharoni"/>
                <a:cs typeface="Aharoni"/>
                <a:sym typeface="Aharoni"/>
              </a:rPr>
              <a:t> </a:t>
            </a:r>
            <a:r>
              <a:rPr b="0" i="0" lang="en-US" sz="2646">
                <a:solidFill>
                  <a:srgbClr val="595959"/>
                </a:solidFill>
                <a:latin typeface="Aharoni"/>
                <a:ea typeface="Aharoni"/>
                <a:cs typeface="Aharoni"/>
                <a:sym typeface="Aharoni"/>
              </a:rPr>
              <a:t>mapping</a:t>
            </a:r>
            <a:r>
              <a:rPr lang="en-US" sz="2646">
                <a:solidFill>
                  <a:srgbClr val="595959"/>
                </a:solidFill>
                <a:latin typeface="Aharoni"/>
                <a:ea typeface="Aharoni"/>
                <a:cs typeface="Aharoni"/>
                <a:sym typeface="Aharoni"/>
              </a:rPr>
              <a:t>- which consists of coupon_id and the item_id of the item it is mapped to.</a:t>
            </a:r>
            <a:endParaRPr sz="3046"/>
          </a:p>
          <a:p>
            <a:pPr indent="-388651" lvl="0" marL="360000" rtl="0" algn="l">
              <a:lnSpc>
                <a:spcPct val="150000"/>
              </a:lnSpc>
              <a:spcBef>
                <a:spcPts val="1000"/>
              </a:spcBef>
              <a:spcAft>
                <a:spcPts val="0"/>
              </a:spcAft>
              <a:buSzPct val="100000"/>
              <a:buFont typeface="Noto Sans Symbols"/>
              <a:buChar char="✔"/>
            </a:pPr>
            <a:r>
              <a:rPr b="0" i="0" lang="en-US" sz="2646">
                <a:solidFill>
                  <a:srgbClr val="595959"/>
                </a:solidFill>
                <a:latin typeface="Aharoni"/>
                <a:ea typeface="Aharoni"/>
                <a:cs typeface="Aharoni"/>
                <a:sym typeface="Aharoni"/>
              </a:rPr>
              <a:t>Customer demographics</a:t>
            </a:r>
            <a:r>
              <a:rPr lang="en-US" sz="2646">
                <a:solidFill>
                  <a:srgbClr val="595959"/>
                </a:solidFill>
                <a:latin typeface="Aharoni"/>
                <a:ea typeface="Aharoni"/>
                <a:cs typeface="Aharoni"/>
                <a:sym typeface="Aharoni"/>
              </a:rPr>
              <a:t>- - It contains the customer demographic information like age range, marital status, family size and the no. of children.</a:t>
            </a:r>
            <a:endParaRPr sz="3046"/>
          </a:p>
          <a:p>
            <a:pPr indent="-388651" lvl="0" marL="360000" rtl="0" algn="l">
              <a:lnSpc>
                <a:spcPct val="150000"/>
              </a:lnSpc>
              <a:spcBef>
                <a:spcPts val="1000"/>
              </a:spcBef>
              <a:spcAft>
                <a:spcPts val="0"/>
              </a:spcAft>
              <a:buSzPct val="100000"/>
              <a:buFont typeface="Noto Sans Symbols"/>
              <a:buChar char="✔"/>
            </a:pPr>
            <a:r>
              <a:rPr lang="en-US" sz="2646">
                <a:solidFill>
                  <a:srgbClr val="595959"/>
                </a:solidFill>
                <a:latin typeface="Aharoni"/>
                <a:ea typeface="Aharoni"/>
                <a:cs typeface="Aharoni"/>
                <a:sym typeface="Aharoni"/>
              </a:rPr>
              <a:t>Customer Transaction data – It contains the transaction data of customers which include fields like customer id, item id, quantity, selling price, other discount and coupon discount.</a:t>
            </a:r>
            <a:endParaRPr sz="3046"/>
          </a:p>
          <a:p>
            <a:pPr indent="-388651" lvl="0" marL="360000" rtl="0" algn="l">
              <a:lnSpc>
                <a:spcPct val="150000"/>
              </a:lnSpc>
              <a:spcBef>
                <a:spcPts val="1000"/>
              </a:spcBef>
              <a:spcAft>
                <a:spcPts val="0"/>
              </a:spcAft>
              <a:buSzPct val="100000"/>
              <a:buFont typeface="Noto Sans Symbols"/>
              <a:buChar char="✔"/>
            </a:pPr>
            <a:r>
              <a:rPr lang="en-US" sz="2646">
                <a:solidFill>
                  <a:srgbClr val="595959"/>
                </a:solidFill>
                <a:latin typeface="Aharoni"/>
                <a:ea typeface="Aharoni"/>
                <a:cs typeface="Aharoni"/>
                <a:sym typeface="Aharoni"/>
              </a:rPr>
              <a:t>Item data – It contains the product data which includes brand, brand type and category.</a:t>
            </a:r>
            <a:endParaRPr sz="3046"/>
          </a:p>
          <a:p>
            <a:pPr indent="0" lvl="0" marL="0" rtl="0" algn="l">
              <a:lnSpc>
                <a:spcPct val="150000"/>
              </a:lnSpc>
              <a:spcBef>
                <a:spcPts val="1000"/>
              </a:spcBef>
              <a:spcAft>
                <a:spcPts val="0"/>
              </a:spcAft>
              <a:buSzPct val="100000"/>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7"/>
          <p:cNvSpPr txBox="1"/>
          <p:nvPr>
            <p:ph type="title"/>
          </p:nvPr>
        </p:nvSpPr>
        <p:spPr>
          <a:xfrm>
            <a:off x="989400" y="348636"/>
            <a:ext cx="10213200" cy="80836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Sorts Mill Goudy"/>
              <a:buNone/>
            </a:pPr>
            <a:r>
              <a:rPr b="1" lang="en-US" sz="2800"/>
              <a:t>FLOW CHART OF DESIGN</a:t>
            </a:r>
            <a:endParaRPr/>
          </a:p>
        </p:txBody>
      </p:sp>
      <p:sp>
        <p:nvSpPr>
          <p:cNvPr id="179" name="Google Shape;179;p7"/>
          <p:cNvSpPr txBox="1"/>
          <p:nvPr/>
        </p:nvSpPr>
        <p:spPr>
          <a:xfrm>
            <a:off x="5057192" y="1539551"/>
            <a:ext cx="1754155"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Read datasets</a:t>
            </a:r>
            <a:endParaRPr/>
          </a:p>
        </p:txBody>
      </p:sp>
      <p:sp>
        <p:nvSpPr>
          <p:cNvPr id="180" name="Google Shape;180;p7"/>
          <p:cNvSpPr txBox="1"/>
          <p:nvPr/>
        </p:nvSpPr>
        <p:spPr>
          <a:xfrm>
            <a:off x="4478694" y="2134920"/>
            <a:ext cx="2668556"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Data Preprocessing</a:t>
            </a:r>
            <a:endParaRPr sz="1800">
              <a:solidFill>
                <a:schemeClr val="dk1"/>
              </a:solidFill>
              <a:latin typeface="Avenir"/>
              <a:ea typeface="Avenir"/>
              <a:cs typeface="Avenir"/>
              <a:sym typeface="Avenir"/>
            </a:endParaRPr>
          </a:p>
        </p:txBody>
      </p:sp>
      <p:sp>
        <p:nvSpPr>
          <p:cNvPr id="181" name="Google Shape;181;p7"/>
          <p:cNvSpPr txBox="1"/>
          <p:nvPr/>
        </p:nvSpPr>
        <p:spPr>
          <a:xfrm>
            <a:off x="4935894" y="2745370"/>
            <a:ext cx="1996750"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Processed data</a:t>
            </a:r>
            <a:endParaRPr sz="1800">
              <a:solidFill>
                <a:schemeClr val="dk1"/>
              </a:solidFill>
              <a:latin typeface="Avenir"/>
              <a:ea typeface="Avenir"/>
              <a:cs typeface="Avenir"/>
              <a:sym typeface="Avenir"/>
            </a:endParaRPr>
          </a:p>
        </p:txBody>
      </p:sp>
      <p:sp>
        <p:nvSpPr>
          <p:cNvPr id="182" name="Google Shape;182;p7"/>
          <p:cNvSpPr txBox="1"/>
          <p:nvPr/>
        </p:nvSpPr>
        <p:spPr>
          <a:xfrm>
            <a:off x="4805265" y="3335795"/>
            <a:ext cx="2258008"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Train/Test split data</a:t>
            </a:r>
            <a:endParaRPr sz="1800">
              <a:solidFill>
                <a:schemeClr val="dk1"/>
              </a:solidFill>
              <a:latin typeface="Avenir"/>
              <a:ea typeface="Avenir"/>
              <a:cs typeface="Avenir"/>
              <a:sym typeface="Avenir"/>
            </a:endParaRPr>
          </a:p>
        </p:txBody>
      </p:sp>
      <p:sp>
        <p:nvSpPr>
          <p:cNvPr id="183" name="Google Shape;183;p7"/>
          <p:cNvSpPr txBox="1"/>
          <p:nvPr/>
        </p:nvSpPr>
        <p:spPr>
          <a:xfrm>
            <a:off x="7445829" y="2745370"/>
            <a:ext cx="1129004"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EDA</a:t>
            </a:r>
            <a:endParaRPr sz="1800">
              <a:solidFill>
                <a:schemeClr val="dk1"/>
              </a:solidFill>
              <a:latin typeface="Avenir"/>
              <a:ea typeface="Avenir"/>
              <a:cs typeface="Avenir"/>
              <a:sym typeface="Avenir"/>
            </a:endParaRPr>
          </a:p>
        </p:txBody>
      </p:sp>
      <p:sp>
        <p:nvSpPr>
          <p:cNvPr id="184" name="Google Shape;184;p7"/>
          <p:cNvSpPr txBox="1"/>
          <p:nvPr/>
        </p:nvSpPr>
        <p:spPr>
          <a:xfrm>
            <a:off x="9088018" y="2745370"/>
            <a:ext cx="1996751"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Data visualization</a:t>
            </a:r>
            <a:endParaRPr sz="1800">
              <a:solidFill>
                <a:schemeClr val="dk1"/>
              </a:solidFill>
              <a:latin typeface="Avenir"/>
              <a:ea typeface="Avenir"/>
              <a:cs typeface="Avenir"/>
              <a:sym typeface="Avenir"/>
            </a:endParaRPr>
          </a:p>
        </p:txBody>
      </p:sp>
      <p:sp>
        <p:nvSpPr>
          <p:cNvPr id="185" name="Google Shape;185;p7"/>
          <p:cNvSpPr txBox="1"/>
          <p:nvPr/>
        </p:nvSpPr>
        <p:spPr>
          <a:xfrm>
            <a:off x="4898570" y="3840741"/>
            <a:ext cx="2034074" cy="646331"/>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Model Building using Naive</a:t>
            </a:r>
            <a:endParaRPr/>
          </a:p>
        </p:txBody>
      </p:sp>
      <p:cxnSp>
        <p:nvCxnSpPr>
          <p:cNvPr id="186" name="Google Shape;186;p7"/>
          <p:cNvCxnSpPr/>
          <p:nvPr/>
        </p:nvCxnSpPr>
        <p:spPr>
          <a:xfrm flipH="1">
            <a:off x="5812972" y="1923964"/>
            <a:ext cx="9331" cy="226037"/>
          </a:xfrm>
          <a:prstGeom prst="straightConnector1">
            <a:avLst/>
          </a:prstGeom>
          <a:noFill/>
          <a:ln cap="flat" cmpd="sng" w="9525">
            <a:solidFill>
              <a:schemeClr val="dk1"/>
            </a:solidFill>
            <a:prstDash val="solid"/>
            <a:round/>
            <a:headEnd len="sm" w="sm" type="none"/>
            <a:tailEnd len="med" w="med" type="triangle"/>
          </a:ln>
        </p:spPr>
      </p:cxnSp>
      <p:cxnSp>
        <p:nvCxnSpPr>
          <p:cNvPr id="187" name="Google Shape;187;p7"/>
          <p:cNvCxnSpPr>
            <a:stCxn id="180" idx="2"/>
          </p:cNvCxnSpPr>
          <p:nvPr/>
        </p:nvCxnSpPr>
        <p:spPr>
          <a:xfrm>
            <a:off x="5812972" y="2504252"/>
            <a:ext cx="0" cy="241200"/>
          </a:xfrm>
          <a:prstGeom prst="straightConnector1">
            <a:avLst/>
          </a:prstGeom>
          <a:noFill/>
          <a:ln cap="flat" cmpd="sng" w="9525">
            <a:solidFill>
              <a:schemeClr val="dk1"/>
            </a:solidFill>
            <a:prstDash val="solid"/>
            <a:round/>
            <a:headEnd len="sm" w="sm" type="none"/>
            <a:tailEnd len="med" w="med" type="triangle"/>
          </a:ln>
        </p:spPr>
      </p:cxnSp>
      <p:cxnSp>
        <p:nvCxnSpPr>
          <p:cNvPr id="188" name="Google Shape;188;p7"/>
          <p:cNvCxnSpPr/>
          <p:nvPr/>
        </p:nvCxnSpPr>
        <p:spPr>
          <a:xfrm>
            <a:off x="5812972" y="3114702"/>
            <a:ext cx="0" cy="221093"/>
          </a:xfrm>
          <a:prstGeom prst="straightConnector1">
            <a:avLst/>
          </a:prstGeom>
          <a:noFill/>
          <a:ln cap="flat" cmpd="sng" w="9525">
            <a:solidFill>
              <a:schemeClr val="dk1"/>
            </a:solidFill>
            <a:prstDash val="solid"/>
            <a:round/>
            <a:headEnd len="sm" w="sm" type="none"/>
            <a:tailEnd len="med" w="med" type="triangle"/>
          </a:ln>
        </p:spPr>
      </p:cxnSp>
      <p:cxnSp>
        <p:nvCxnSpPr>
          <p:cNvPr id="189" name="Google Shape;189;p7"/>
          <p:cNvCxnSpPr/>
          <p:nvPr/>
        </p:nvCxnSpPr>
        <p:spPr>
          <a:xfrm>
            <a:off x="5812972" y="3705127"/>
            <a:ext cx="0" cy="135614"/>
          </a:xfrm>
          <a:prstGeom prst="straightConnector1">
            <a:avLst/>
          </a:prstGeom>
          <a:noFill/>
          <a:ln cap="flat" cmpd="sng" w="9525">
            <a:solidFill>
              <a:schemeClr val="dk1"/>
            </a:solidFill>
            <a:prstDash val="solid"/>
            <a:round/>
            <a:headEnd len="sm" w="sm" type="none"/>
            <a:tailEnd len="med" w="med" type="triangle"/>
          </a:ln>
        </p:spPr>
      </p:cxnSp>
      <p:cxnSp>
        <p:nvCxnSpPr>
          <p:cNvPr id="190" name="Google Shape;190;p7"/>
          <p:cNvCxnSpPr>
            <a:stCxn id="181" idx="3"/>
            <a:endCxn id="183" idx="1"/>
          </p:cNvCxnSpPr>
          <p:nvPr/>
        </p:nvCxnSpPr>
        <p:spPr>
          <a:xfrm>
            <a:off x="6932644" y="2930036"/>
            <a:ext cx="513300" cy="0"/>
          </a:xfrm>
          <a:prstGeom prst="straightConnector1">
            <a:avLst/>
          </a:prstGeom>
          <a:noFill/>
          <a:ln cap="flat" cmpd="sng" w="9525">
            <a:solidFill>
              <a:schemeClr val="dk1"/>
            </a:solidFill>
            <a:prstDash val="solid"/>
            <a:round/>
            <a:headEnd len="sm" w="sm" type="none"/>
            <a:tailEnd len="med" w="med" type="triangle"/>
          </a:ln>
        </p:spPr>
      </p:cxnSp>
      <p:cxnSp>
        <p:nvCxnSpPr>
          <p:cNvPr id="191" name="Google Shape;191;p7"/>
          <p:cNvCxnSpPr>
            <a:stCxn id="183" idx="3"/>
            <a:endCxn id="184" idx="1"/>
          </p:cNvCxnSpPr>
          <p:nvPr/>
        </p:nvCxnSpPr>
        <p:spPr>
          <a:xfrm>
            <a:off x="8574833" y="2930036"/>
            <a:ext cx="513300" cy="0"/>
          </a:xfrm>
          <a:prstGeom prst="straightConnector1">
            <a:avLst/>
          </a:prstGeom>
          <a:noFill/>
          <a:ln cap="flat" cmpd="sng" w="9525">
            <a:solidFill>
              <a:schemeClr val="dk1"/>
            </a:solidFill>
            <a:prstDash val="solid"/>
            <a:round/>
            <a:headEnd len="sm" w="sm" type="none"/>
            <a:tailEnd len="med" w="med" type="triangle"/>
          </a:ln>
        </p:spPr>
      </p:cxnSp>
      <p:sp>
        <p:nvSpPr>
          <p:cNvPr id="192" name="Google Shape;192;p7"/>
          <p:cNvSpPr/>
          <p:nvPr/>
        </p:nvSpPr>
        <p:spPr>
          <a:xfrm>
            <a:off x="4544002" y="4690778"/>
            <a:ext cx="2743206" cy="1364789"/>
          </a:xfrm>
          <a:prstGeom prst="diamond">
            <a:avLst/>
          </a:prstGeom>
          <a:solidFill>
            <a:schemeClr val="lt2"/>
          </a:solidFill>
          <a:ln cap="flat" cmpd="sng" w="107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venir"/>
                <a:ea typeface="Avenir"/>
                <a:cs typeface="Avenir"/>
                <a:sym typeface="Avenir"/>
              </a:rPr>
              <a:t>Redemption </a:t>
            </a:r>
            <a:endParaRPr/>
          </a:p>
          <a:p>
            <a:pPr indent="0" lvl="0" marL="0" marR="0" rtl="0" algn="ctr">
              <a:spcBef>
                <a:spcPts val="0"/>
              </a:spcBef>
              <a:spcAft>
                <a:spcPts val="0"/>
              </a:spcAft>
              <a:buNone/>
            </a:pPr>
            <a:r>
              <a:rPr lang="en-US" sz="1600">
                <a:solidFill>
                  <a:schemeClr val="dk1"/>
                </a:solidFill>
                <a:latin typeface="Avenir"/>
                <a:ea typeface="Avenir"/>
                <a:cs typeface="Avenir"/>
                <a:sym typeface="Avenir"/>
              </a:rPr>
              <a:t>status</a:t>
            </a:r>
            <a:endParaRPr/>
          </a:p>
        </p:txBody>
      </p:sp>
      <p:cxnSp>
        <p:nvCxnSpPr>
          <p:cNvPr id="193" name="Google Shape;193;p7"/>
          <p:cNvCxnSpPr/>
          <p:nvPr/>
        </p:nvCxnSpPr>
        <p:spPr>
          <a:xfrm>
            <a:off x="233265" y="93306"/>
            <a:ext cx="0" cy="0"/>
          </a:xfrm>
          <a:prstGeom prst="straightConnector1">
            <a:avLst/>
          </a:prstGeom>
          <a:noFill/>
          <a:ln cap="flat" cmpd="sng" w="9525">
            <a:solidFill>
              <a:schemeClr val="accent1"/>
            </a:solidFill>
            <a:prstDash val="solid"/>
            <a:round/>
            <a:headEnd len="sm" w="sm" type="none"/>
            <a:tailEnd len="med" w="med" type="triangle"/>
          </a:ln>
        </p:spPr>
      </p:cxnSp>
      <p:cxnSp>
        <p:nvCxnSpPr>
          <p:cNvPr id="194" name="Google Shape;194;p7"/>
          <p:cNvCxnSpPr>
            <a:stCxn id="185" idx="2"/>
            <a:endCxn id="192" idx="0"/>
          </p:cNvCxnSpPr>
          <p:nvPr/>
        </p:nvCxnSpPr>
        <p:spPr>
          <a:xfrm>
            <a:off x="5915607" y="4487072"/>
            <a:ext cx="0" cy="203700"/>
          </a:xfrm>
          <a:prstGeom prst="straightConnector1">
            <a:avLst/>
          </a:prstGeom>
          <a:noFill/>
          <a:ln cap="flat" cmpd="sng" w="9525">
            <a:solidFill>
              <a:schemeClr val="dk1"/>
            </a:solidFill>
            <a:prstDash val="solid"/>
            <a:round/>
            <a:headEnd len="sm" w="sm" type="none"/>
            <a:tailEnd len="med" w="med" type="triangle"/>
          </a:ln>
        </p:spPr>
      </p:cxnSp>
      <p:sp>
        <p:nvSpPr>
          <p:cNvPr id="195" name="Google Shape;195;p7"/>
          <p:cNvSpPr txBox="1"/>
          <p:nvPr/>
        </p:nvSpPr>
        <p:spPr>
          <a:xfrm>
            <a:off x="7861041" y="5003840"/>
            <a:ext cx="2985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1</a:t>
            </a:r>
            <a:endParaRPr/>
          </a:p>
        </p:txBody>
      </p:sp>
      <p:sp>
        <p:nvSpPr>
          <p:cNvPr id="196" name="Google Shape;196;p7"/>
          <p:cNvSpPr txBox="1"/>
          <p:nvPr/>
        </p:nvSpPr>
        <p:spPr>
          <a:xfrm>
            <a:off x="3610934" y="5003840"/>
            <a:ext cx="1959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0</a:t>
            </a:r>
            <a:endParaRPr/>
          </a:p>
        </p:txBody>
      </p:sp>
      <p:sp>
        <p:nvSpPr>
          <p:cNvPr id="197" name="Google Shape;197;p7"/>
          <p:cNvSpPr txBox="1"/>
          <p:nvPr/>
        </p:nvSpPr>
        <p:spPr>
          <a:xfrm>
            <a:off x="1094008" y="5188506"/>
            <a:ext cx="1838131"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venir"/>
                <a:ea typeface="Avenir"/>
                <a:cs typeface="Avenir"/>
                <a:sym typeface="Avenir"/>
              </a:rPr>
              <a:t>Not redeemed</a:t>
            </a:r>
            <a:endParaRPr/>
          </a:p>
        </p:txBody>
      </p:sp>
      <p:sp>
        <p:nvSpPr>
          <p:cNvPr id="198" name="Google Shape;198;p7"/>
          <p:cNvSpPr txBox="1"/>
          <p:nvPr/>
        </p:nvSpPr>
        <p:spPr>
          <a:xfrm>
            <a:off x="8831425" y="5188506"/>
            <a:ext cx="1880118" cy="3693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Redeemed</a:t>
            </a:r>
            <a:endParaRPr/>
          </a:p>
        </p:txBody>
      </p:sp>
      <p:sp>
        <p:nvSpPr>
          <p:cNvPr id="199" name="Google Shape;199;p7"/>
          <p:cNvSpPr txBox="1"/>
          <p:nvPr/>
        </p:nvSpPr>
        <p:spPr>
          <a:xfrm>
            <a:off x="4641973" y="6307494"/>
            <a:ext cx="2505277" cy="37886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venir"/>
                <a:ea typeface="Avenir"/>
                <a:cs typeface="Avenir"/>
                <a:sym typeface="Avenir"/>
              </a:rPr>
              <a:t>Predict the results</a:t>
            </a:r>
            <a:endParaRPr/>
          </a:p>
        </p:txBody>
      </p:sp>
      <p:cxnSp>
        <p:nvCxnSpPr>
          <p:cNvPr id="200" name="Google Shape;200;p7"/>
          <p:cNvCxnSpPr>
            <a:stCxn id="192" idx="1"/>
            <a:endCxn id="197" idx="3"/>
          </p:cNvCxnSpPr>
          <p:nvPr/>
        </p:nvCxnSpPr>
        <p:spPr>
          <a:xfrm rot="10800000">
            <a:off x="2932102" y="5373173"/>
            <a:ext cx="1611900" cy="0"/>
          </a:xfrm>
          <a:prstGeom prst="straightConnector1">
            <a:avLst/>
          </a:prstGeom>
          <a:noFill/>
          <a:ln cap="flat" cmpd="sng" w="9525">
            <a:solidFill>
              <a:schemeClr val="dk1"/>
            </a:solidFill>
            <a:prstDash val="solid"/>
            <a:round/>
            <a:headEnd len="sm" w="sm" type="none"/>
            <a:tailEnd len="med" w="med" type="triangle"/>
          </a:ln>
        </p:spPr>
      </p:cxnSp>
      <p:cxnSp>
        <p:nvCxnSpPr>
          <p:cNvPr id="201" name="Google Shape;201;p7"/>
          <p:cNvCxnSpPr>
            <a:stCxn id="192" idx="3"/>
            <a:endCxn id="198" idx="1"/>
          </p:cNvCxnSpPr>
          <p:nvPr/>
        </p:nvCxnSpPr>
        <p:spPr>
          <a:xfrm>
            <a:off x="7287208" y="5373173"/>
            <a:ext cx="1544100" cy="0"/>
          </a:xfrm>
          <a:prstGeom prst="straightConnector1">
            <a:avLst/>
          </a:prstGeom>
          <a:noFill/>
          <a:ln cap="flat" cmpd="sng" w="9525">
            <a:solidFill>
              <a:schemeClr val="dk1"/>
            </a:solidFill>
            <a:prstDash val="solid"/>
            <a:round/>
            <a:headEnd len="sm" w="sm" type="none"/>
            <a:tailEnd len="med" w="med" type="triangle"/>
          </a:ln>
        </p:spPr>
      </p:cxnSp>
      <p:cxnSp>
        <p:nvCxnSpPr>
          <p:cNvPr id="202" name="Google Shape;202;p7"/>
          <p:cNvCxnSpPr>
            <a:endCxn id="199" idx="1"/>
          </p:cNvCxnSpPr>
          <p:nvPr/>
        </p:nvCxnSpPr>
        <p:spPr>
          <a:xfrm>
            <a:off x="1093873" y="5557925"/>
            <a:ext cx="3548100" cy="939000"/>
          </a:xfrm>
          <a:prstGeom prst="bentConnector3">
            <a:avLst>
              <a:gd fmla="val 26071" name="adj1"/>
            </a:avLst>
          </a:prstGeom>
          <a:noFill/>
          <a:ln cap="flat" cmpd="sng" w="9525">
            <a:solidFill>
              <a:schemeClr val="dk1"/>
            </a:solidFill>
            <a:prstDash val="solid"/>
            <a:round/>
            <a:headEnd len="sm" w="sm" type="none"/>
            <a:tailEnd len="med" w="med" type="triangle"/>
          </a:ln>
        </p:spPr>
      </p:cxnSp>
      <p:cxnSp>
        <p:nvCxnSpPr>
          <p:cNvPr id="203" name="Google Shape;203;p7"/>
          <p:cNvCxnSpPr/>
          <p:nvPr/>
        </p:nvCxnSpPr>
        <p:spPr>
          <a:xfrm flipH="1">
            <a:off x="7147385" y="5557839"/>
            <a:ext cx="2624100" cy="939000"/>
          </a:xfrm>
          <a:prstGeom prst="bentConnector2">
            <a:avLst/>
          </a:prstGeom>
          <a:noFill/>
          <a:ln cap="flat" cmpd="sng" w="9525">
            <a:solidFill>
              <a:schemeClr val="dk1"/>
            </a:solidFill>
            <a:prstDash val="solid"/>
            <a:round/>
            <a:headEnd len="sm" w="sm" type="none"/>
            <a:tailEnd len="med" w="med" type="triangle"/>
          </a:ln>
        </p:spPr>
      </p:cxnSp>
      <p:sp>
        <p:nvSpPr>
          <p:cNvPr id="204" name="Google Shape;204;p7"/>
          <p:cNvSpPr txBox="1"/>
          <p:nvPr/>
        </p:nvSpPr>
        <p:spPr>
          <a:xfrm>
            <a:off x="307910" y="1231641"/>
            <a:ext cx="11392678" cy="56356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8"/>
          <p:cNvSpPr txBox="1"/>
          <p:nvPr>
            <p:ph type="title"/>
          </p:nvPr>
        </p:nvSpPr>
        <p:spPr>
          <a:xfrm>
            <a:off x="223935" y="235789"/>
            <a:ext cx="11625900" cy="7617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Sorts Mill Goudy"/>
              <a:buNone/>
            </a:pPr>
            <a:r>
              <a:rPr b="1" lang="en-US" sz="2800"/>
              <a:t>IMPLEMENTATION OF DATA PROCESSING TECHNIQUES</a:t>
            </a:r>
            <a:endParaRPr/>
          </a:p>
        </p:txBody>
      </p:sp>
      <p:sp>
        <p:nvSpPr>
          <p:cNvPr id="210" name="Google Shape;210;p8"/>
          <p:cNvSpPr txBox="1"/>
          <p:nvPr/>
        </p:nvSpPr>
        <p:spPr>
          <a:xfrm>
            <a:off x="927150" y="1313750"/>
            <a:ext cx="10045500" cy="5679900"/>
          </a:xfrm>
          <a:prstGeom prst="rect">
            <a:avLst/>
          </a:prstGeom>
          <a:noFill/>
          <a:ln>
            <a:noFill/>
          </a:ln>
        </p:spPr>
        <p:txBody>
          <a:bodyPr anchorCtr="0" anchor="t" bIns="45700" lIns="91425" spcFirstLastPara="1" rIns="91425" wrap="square" tIns="45700">
            <a:spAutoFit/>
          </a:bodyPr>
          <a:lstStyle/>
          <a:p>
            <a:pPr indent="-304800" lvl="0" marL="285750" marR="0" rtl="0" algn="l">
              <a:spcBef>
                <a:spcPts val="0"/>
              </a:spcBef>
              <a:spcAft>
                <a:spcPts val="0"/>
              </a:spcAft>
              <a:buClr>
                <a:srgbClr val="374151"/>
              </a:buClr>
              <a:buSzPts val="2100"/>
              <a:buFont typeface="Noto Sans Symbols"/>
              <a:buChar char="⮚"/>
            </a:pPr>
            <a:r>
              <a:rPr b="0" i="0" lang="en-US" sz="2100">
                <a:solidFill>
                  <a:srgbClr val="374151"/>
                </a:solidFill>
                <a:latin typeface="Arial"/>
                <a:ea typeface="Arial"/>
                <a:cs typeface="Arial"/>
                <a:sym typeface="Arial"/>
              </a:rPr>
              <a:t>Data Cleaning :  </a:t>
            </a:r>
            <a:r>
              <a:rPr lang="en-US" sz="2100">
                <a:solidFill>
                  <a:srgbClr val="374151"/>
                </a:solidFill>
              </a:rPr>
              <a:t>Rectify raw data quality issues by identifying, eliminating, and                                            filling data.</a:t>
            </a:r>
            <a:endParaRPr sz="2100">
              <a:solidFill>
                <a:srgbClr val="374151"/>
              </a:solidFill>
            </a:endParaRPr>
          </a:p>
          <a:p>
            <a:pPr indent="0" lvl="0" marL="457200" marR="0" rtl="0" algn="l">
              <a:spcBef>
                <a:spcPts val="0"/>
              </a:spcBef>
              <a:spcAft>
                <a:spcPts val="0"/>
              </a:spcAft>
              <a:buNone/>
            </a:pPr>
            <a:r>
              <a:t/>
            </a:r>
            <a:endParaRPr sz="2100">
              <a:solidFill>
                <a:srgbClr val="374151"/>
              </a:solidFill>
            </a:endParaRPr>
          </a:p>
          <a:p>
            <a:pPr indent="-285750" lvl="0" marL="285750" marR="0" rtl="0" algn="l">
              <a:spcBef>
                <a:spcPts val="0"/>
              </a:spcBef>
              <a:spcAft>
                <a:spcPts val="0"/>
              </a:spcAft>
              <a:buClr>
                <a:srgbClr val="374151"/>
              </a:buClr>
              <a:buSzPts val="1800"/>
              <a:buFont typeface="Noto Sans Symbols"/>
              <a:buChar char="⮚"/>
            </a:pPr>
            <a:r>
              <a:rPr lang="en-US" sz="2100">
                <a:solidFill>
                  <a:srgbClr val="374151"/>
                </a:solidFill>
              </a:rPr>
              <a:t>Data Reduction : Data reduction simplifies raw data, removing redundancy and irrelevance,       using techniques like principal component analysis</a:t>
            </a:r>
            <a:r>
              <a:rPr lang="en-US" sz="1500">
                <a:solidFill>
                  <a:srgbClr val="374151"/>
                </a:solidFill>
                <a:highlight>
                  <a:srgbClr val="F7F7F8"/>
                </a:highlight>
                <a:latin typeface="Roboto"/>
                <a:ea typeface="Roboto"/>
                <a:cs typeface="Roboto"/>
                <a:sym typeface="Roboto"/>
              </a:rPr>
              <a:t>.</a:t>
            </a:r>
            <a:endParaRPr sz="1500">
              <a:solidFill>
                <a:srgbClr val="374151"/>
              </a:solidFill>
              <a:highlight>
                <a:srgbClr val="F7F7F8"/>
              </a:highlight>
              <a:latin typeface="Roboto"/>
              <a:ea typeface="Roboto"/>
              <a:cs typeface="Roboto"/>
              <a:sym typeface="Roboto"/>
            </a:endParaRPr>
          </a:p>
          <a:p>
            <a:pPr indent="0" lvl="0" marL="457200" marR="0" rtl="0" algn="l">
              <a:spcBef>
                <a:spcPts val="0"/>
              </a:spcBef>
              <a:spcAft>
                <a:spcPts val="0"/>
              </a:spcAft>
              <a:buNone/>
            </a:pPr>
            <a:r>
              <a:t/>
            </a:r>
            <a:endParaRPr sz="1500">
              <a:solidFill>
                <a:srgbClr val="374151"/>
              </a:solidFill>
              <a:highlight>
                <a:srgbClr val="F7F7F8"/>
              </a:highlight>
              <a:latin typeface="Roboto"/>
              <a:ea typeface="Roboto"/>
              <a:cs typeface="Roboto"/>
              <a:sym typeface="Roboto"/>
            </a:endParaRPr>
          </a:p>
          <a:p>
            <a:pPr indent="-304800" lvl="0" marL="285750" marR="0" rtl="0" algn="l">
              <a:spcBef>
                <a:spcPts val="0"/>
              </a:spcBef>
              <a:spcAft>
                <a:spcPts val="0"/>
              </a:spcAft>
              <a:buClr>
                <a:srgbClr val="374151"/>
              </a:buClr>
              <a:buSzPts val="2100"/>
              <a:buFont typeface="Noto Sans Symbols"/>
              <a:buChar char="⮚"/>
            </a:pPr>
            <a:r>
              <a:rPr lang="en-US" sz="2100">
                <a:solidFill>
                  <a:srgbClr val="374151"/>
                </a:solidFill>
              </a:rPr>
              <a:t>Data Transformation :Data transformation involves applying mathematical or statistical techniques to alter the </a:t>
            </a:r>
            <a:r>
              <a:rPr lang="en-US" sz="2100">
                <a:solidFill>
                  <a:srgbClr val="374151"/>
                </a:solidFill>
              </a:rPr>
              <a:t>data</a:t>
            </a:r>
            <a:r>
              <a:rPr lang="en-US" sz="2100">
                <a:solidFill>
                  <a:srgbClr val="374151"/>
                </a:solidFill>
              </a:rPr>
              <a:t> form, distribution, or scale for analysis.</a:t>
            </a:r>
            <a:endParaRPr sz="2100">
              <a:solidFill>
                <a:srgbClr val="374151"/>
              </a:solidFill>
            </a:endParaRPr>
          </a:p>
          <a:p>
            <a:pPr indent="0" lvl="0" marL="457200" marR="0" rtl="0" algn="l">
              <a:spcBef>
                <a:spcPts val="0"/>
              </a:spcBef>
              <a:spcAft>
                <a:spcPts val="0"/>
              </a:spcAft>
              <a:buNone/>
            </a:pPr>
            <a:r>
              <a:t/>
            </a:r>
            <a:endParaRPr sz="2100">
              <a:solidFill>
                <a:srgbClr val="374151"/>
              </a:solidFill>
            </a:endParaRPr>
          </a:p>
          <a:p>
            <a:pPr indent="-304800" lvl="0" marL="285750" marR="0" rtl="0" algn="l">
              <a:spcBef>
                <a:spcPts val="0"/>
              </a:spcBef>
              <a:spcAft>
                <a:spcPts val="0"/>
              </a:spcAft>
              <a:buClr>
                <a:srgbClr val="374151"/>
              </a:buClr>
              <a:buSzPts val="2100"/>
              <a:buFont typeface="Noto Sans Symbols"/>
              <a:buChar char="⮚"/>
            </a:pPr>
            <a:r>
              <a:rPr lang="en-US" sz="2100">
                <a:solidFill>
                  <a:srgbClr val="374151"/>
                </a:solidFill>
              </a:rPr>
              <a:t>Data enrichment :Data enrichment involves enhancing raw data by adding relevant and valuable information to improve its accuracy and completeness for analysis.</a:t>
            </a:r>
            <a:endParaRPr sz="2100">
              <a:solidFill>
                <a:srgbClr val="374151"/>
              </a:solidFill>
            </a:endParaRPr>
          </a:p>
          <a:p>
            <a:pPr indent="0" lvl="0" marL="457200" marR="0" rtl="0" algn="l">
              <a:spcBef>
                <a:spcPts val="0"/>
              </a:spcBef>
              <a:spcAft>
                <a:spcPts val="0"/>
              </a:spcAft>
              <a:buNone/>
            </a:pPr>
            <a:r>
              <a:t/>
            </a:r>
            <a:endParaRPr sz="2100">
              <a:solidFill>
                <a:srgbClr val="374151"/>
              </a:solidFill>
            </a:endParaRPr>
          </a:p>
          <a:p>
            <a:pPr indent="-304800" lvl="0" marL="285750" marR="0" rtl="0" algn="l">
              <a:spcBef>
                <a:spcPts val="0"/>
              </a:spcBef>
              <a:spcAft>
                <a:spcPts val="0"/>
              </a:spcAft>
              <a:buClr>
                <a:srgbClr val="374151"/>
              </a:buClr>
              <a:buSzPts val="2100"/>
              <a:buFont typeface="Noto Sans Symbols"/>
              <a:buChar char="⮚"/>
            </a:pPr>
            <a:r>
              <a:rPr lang="en-US" sz="2100">
                <a:solidFill>
                  <a:srgbClr val="374151"/>
                </a:solidFill>
              </a:rPr>
              <a:t>Data Validation : Data validation is the process of verifying the accuracy and consistency of data to ensure it meets specific requirements or standards.</a:t>
            </a:r>
            <a:endParaRPr sz="2100">
              <a:solidFill>
                <a:srgbClr val="374151"/>
              </a:solidFill>
            </a:endParaRPr>
          </a:p>
          <a:p>
            <a:pPr indent="0" lvl="0" marL="457200" marR="0" rtl="0" algn="l">
              <a:spcBef>
                <a:spcPts val="0"/>
              </a:spcBef>
              <a:spcAft>
                <a:spcPts val="0"/>
              </a:spcAft>
              <a:buNone/>
            </a:pPr>
            <a:r>
              <a:t/>
            </a:r>
            <a:endParaRPr sz="1800">
              <a:solidFill>
                <a:srgbClr val="374151"/>
              </a:solidFill>
              <a:highlight>
                <a:srgbClr val="F7F7F8"/>
              </a:highlight>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venir"/>
              <a:ea typeface="Avenir"/>
              <a:cs typeface="Avenir"/>
              <a:sym typeface="Aveni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venir"/>
              <a:ea typeface="Avenir"/>
              <a:cs typeface="Avenir"/>
              <a:sym typeface="Aveni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38c18aa5c8_0_9"/>
          <p:cNvSpPr txBox="1"/>
          <p:nvPr>
            <p:ph type="title"/>
          </p:nvPr>
        </p:nvSpPr>
        <p:spPr>
          <a:xfrm>
            <a:off x="989400" y="395300"/>
            <a:ext cx="10213200" cy="11040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a:t>MODELING</a:t>
            </a:r>
            <a:endParaRPr b="1"/>
          </a:p>
        </p:txBody>
      </p:sp>
      <p:sp>
        <p:nvSpPr>
          <p:cNvPr id="216" name="Google Shape;216;g238c18aa5c8_0_9"/>
          <p:cNvSpPr txBox="1"/>
          <p:nvPr/>
        </p:nvSpPr>
        <p:spPr>
          <a:xfrm>
            <a:off x="931400" y="1778175"/>
            <a:ext cx="10518300" cy="4248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000">
                <a:latin typeface="Avenir"/>
                <a:ea typeface="Avenir"/>
                <a:cs typeface="Avenir"/>
                <a:sym typeface="Avenir"/>
              </a:rPr>
              <a:t> </a:t>
            </a:r>
            <a:r>
              <a:rPr b="1" lang="en-US" sz="2400"/>
              <a:t>Naive Bayes</a:t>
            </a:r>
            <a:r>
              <a:rPr lang="en-US" sz="2400"/>
              <a:t> : This algorithm is a classification technique based on Bayes' theorem and the assumption of feature independence. It is commonly used in natural language processing, spam filtering, and sentiment analysis applications.</a:t>
            </a:r>
            <a:endParaRPr sz="2400"/>
          </a:p>
          <a:p>
            <a:pPr indent="0" lvl="0" marL="0" rtl="0" algn="just">
              <a:spcBef>
                <a:spcPts val="0"/>
              </a:spcBef>
              <a:spcAft>
                <a:spcPts val="0"/>
              </a:spcAft>
              <a:buNone/>
            </a:pPr>
            <a:r>
              <a:t/>
            </a:r>
            <a:endParaRPr sz="2400"/>
          </a:p>
          <a:p>
            <a:pPr indent="0" lvl="0" marL="0" rtl="0" algn="just">
              <a:spcBef>
                <a:spcPts val="0"/>
              </a:spcBef>
              <a:spcAft>
                <a:spcPts val="0"/>
              </a:spcAft>
              <a:buNone/>
            </a:pPr>
            <a:r>
              <a:rPr b="1" lang="en-US" sz="2400"/>
              <a:t>Random forest</a:t>
            </a:r>
            <a:r>
              <a:rPr lang="en-US" sz="2400"/>
              <a:t> : A supervised machine learning algorithm that builds multiple decision trees and combines them to improve accuracy and reduce overfitting, making it effective for classification and regression tasks.</a:t>
            </a:r>
            <a:endParaRPr sz="2400"/>
          </a:p>
          <a:p>
            <a:pPr indent="0" lvl="0" marL="0" rtl="0" algn="just">
              <a:spcBef>
                <a:spcPts val="0"/>
              </a:spcBef>
              <a:spcAft>
                <a:spcPts val="0"/>
              </a:spcAft>
              <a:buNone/>
            </a:pPr>
            <a:r>
              <a:t/>
            </a:r>
            <a:endParaRPr sz="2400"/>
          </a:p>
          <a:p>
            <a:pPr indent="0" lvl="0" marL="0" rtl="0" algn="just">
              <a:spcBef>
                <a:spcPts val="0"/>
              </a:spcBef>
              <a:spcAft>
                <a:spcPts val="0"/>
              </a:spcAft>
              <a:buNone/>
            </a:pPr>
            <a:r>
              <a:rPr lang="en-US" sz="2400"/>
              <a:t>We have used these two </a:t>
            </a:r>
            <a:r>
              <a:rPr lang="en-US" sz="2400"/>
              <a:t>algorithms</a:t>
            </a:r>
            <a:r>
              <a:rPr lang="en-US" sz="2400"/>
              <a:t> because Random Forest and Naive Bayes are capable of handling large datasets.</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21d435956c8_0_0"/>
          <p:cNvSpPr txBox="1"/>
          <p:nvPr>
            <p:ph type="title"/>
          </p:nvPr>
        </p:nvSpPr>
        <p:spPr>
          <a:xfrm>
            <a:off x="989400" y="395289"/>
            <a:ext cx="10213200" cy="111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222" name="Google Shape;222;g21d435956c8_0_0"/>
          <p:cNvSpPr txBox="1"/>
          <p:nvPr/>
        </p:nvSpPr>
        <p:spPr>
          <a:xfrm>
            <a:off x="952500" y="2095500"/>
            <a:ext cx="10287000" cy="4689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1000"/>
              </a:spcBef>
              <a:spcAft>
                <a:spcPts val="0"/>
              </a:spcAft>
              <a:buClr>
                <a:schemeClr val="dk1"/>
              </a:buClr>
              <a:buSzPts val="1100"/>
              <a:buFont typeface="Arial"/>
              <a:buNone/>
            </a:pPr>
            <a:r>
              <a:rPr lang="en-US" sz="1800">
                <a:solidFill>
                  <a:srgbClr val="4D63C3"/>
                </a:solidFill>
              </a:rPr>
              <a:t>Ø</a:t>
            </a:r>
            <a:r>
              <a:rPr lang="en-US" sz="1700">
                <a:solidFill>
                  <a:schemeClr val="dk1"/>
                </a:solidFill>
                <a:latin typeface="Aharoni"/>
                <a:ea typeface="Aharoni"/>
                <a:cs typeface="Aharoni"/>
                <a:sym typeface="Aharoni"/>
              </a:rPr>
              <a:t>NumPy : It is used for numerical computing, matrices. It is widely used in scientific computing, data analysis, and machine learning.</a:t>
            </a:r>
            <a:endParaRPr sz="1700">
              <a:solidFill>
                <a:schemeClr val="dk1"/>
              </a:solidFill>
              <a:latin typeface="Aharoni"/>
              <a:ea typeface="Aharoni"/>
              <a:cs typeface="Aharoni"/>
              <a:sym typeface="Aharoni"/>
            </a:endParaRPr>
          </a:p>
          <a:p>
            <a:pPr indent="0" lvl="0" marL="0" rtl="0" algn="l">
              <a:lnSpc>
                <a:spcPct val="150000"/>
              </a:lnSpc>
              <a:spcBef>
                <a:spcPts val="1000"/>
              </a:spcBef>
              <a:spcAft>
                <a:spcPts val="0"/>
              </a:spcAft>
              <a:buClr>
                <a:schemeClr val="dk1"/>
              </a:buClr>
              <a:buSzPts val="1100"/>
              <a:buFont typeface="Arial"/>
              <a:buNone/>
            </a:pPr>
            <a:r>
              <a:rPr lang="en-US" sz="1800">
                <a:solidFill>
                  <a:srgbClr val="4D63C3"/>
                </a:solidFill>
              </a:rPr>
              <a:t>Ø</a:t>
            </a:r>
            <a:r>
              <a:rPr lang="en-US" sz="1700">
                <a:solidFill>
                  <a:schemeClr val="dk1"/>
                </a:solidFill>
                <a:latin typeface="Aharoni"/>
                <a:ea typeface="Aharoni"/>
                <a:cs typeface="Aharoni"/>
                <a:sym typeface="Aharoni"/>
              </a:rPr>
              <a:t>Pandas : It is used for</a:t>
            </a:r>
            <a:r>
              <a:rPr lang="en-US" sz="1700">
                <a:solidFill>
                  <a:srgbClr val="374151"/>
                </a:solidFill>
                <a:latin typeface="Aharoni"/>
                <a:ea typeface="Aharoni"/>
                <a:cs typeface="Aharoni"/>
                <a:sym typeface="Aharoni"/>
              </a:rPr>
              <a:t> </a:t>
            </a:r>
            <a:r>
              <a:rPr lang="en-US" sz="1700">
                <a:solidFill>
                  <a:schemeClr val="dk1"/>
                </a:solidFill>
                <a:latin typeface="Aharoni"/>
                <a:ea typeface="Aharoni"/>
                <a:cs typeface="Aharoni"/>
                <a:sym typeface="Aharoni"/>
              </a:rPr>
              <a:t>the manipulation of tabular data, including data cleaning, merging, grouping, and visualization.</a:t>
            </a:r>
            <a:endParaRPr sz="1700">
              <a:solidFill>
                <a:schemeClr val="dk1"/>
              </a:solidFill>
              <a:latin typeface="Aharoni"/>
              <a:ea typeface="Aharoni"/>
              <a:cs typeface="Aharoni"/>
              <a:sym typeface="Aharoni"/>
            </a:endParaRPr>
          </a:p>
          <a:p>
            <a:pPr indent="0" lvl="0" marL="0" rtl="0" algn="l">
              <a:lnSpc>
                <a:spcPct val="150000"/>
              </a:lnSpc>
              <a:spcBef>
                <a:spcPts val="1000"/>
              </a:spcBef>
              <a:spcAft>
                <a:spcPts val="0"/>
              </a:spcAft>
              <a:buClr>
                <a:schemeClr val="dk1"/>
              </a:buClr>
              <a:buSzPts val="1100"/>
              <a:buFont typeface="Arial"/>
              <a:buNone/>
            </a:pPr>
            <a:r>
              <a:rPr lang="en-US" sz="1800">
                <a:solidFill>
                  <a:srgbClr val="4D63C3"/>
                </a:solidFill>
              </a:rPr>
              <a:t>Ø</a:t>
            </a:r>
            <a:r>
              <a:rPr lang="en-US" sz="1700">
                <a:solidFill>
                  <a:schemeClr val="dk1"/>
                </a:solidFill>
                <a:latin typeface="Aharoni"/>
                <a:ea typeface="Aharoni"/>
                <a:cs typeface="Aharoni"/>
                <a:sym typeface="Aharoni"/>
              </a:rPr>
              <a:t>scikit-learn: It includes tools for model selection, preprocessing, and evaluation.</a:t>
            </a:r>
            <a:endParaRPr sz="1700">
              <a:solidFill>
                <a:schemeClr val="dk1"/>
              </a:solidFill>
              <a:latin typeface="Aharoni"/>
              <a:ea typeface="Aharoni"/>
              <a:cs typeface="Aharoni"/>
              <a:sym typeface="Aharoni"/>
            </a:endParaRPr>
          </a:p>
          <a:p>
            <a:pPr indent="0" lvl="0" marL="0" rtl="0" algn="l">
              <a:lnSpc>
                <a:spcPct val="150000"/>
              </a:lnSpc>
              <a:spcBef>
                <a:spcPts val="1000"/>
              </a:spcBef>
              <a:spcAft>
                <a:spcPts val="0"/>
              </a:spcAft>
              <a:buClr>
                <a:schemeClr val="dk1"/>
              </a:buClr>
              <a:buSzPts val="1100"/>
              <a:buFont typeface="Arial"/>
              <a:buNone/>
            </a:pPr>
            <a:r>
              <a:rPr lang="en-US" sz="1800">
                <a:solidFill>
                  <a:srgbClr val="4D63C3"/>
                </a:solidFill>
              </a:rPr>
              <a:t>Ø</a:t>
            </a:r>
            <a:r>
              <a:rPr lang="en-US" sz="1700">
                <a:solidFill>
                  <a:schemeClr val="dk1"/>
                </a:solidFill>
                <a:latin typeface="Aharoni"/>
                <a:ea typeface="Aharoni"/>
                <a:cs typeface="Aharoni"/>
                <a:sym typeface="Aharoni"/>
              </a:rPr>
              <a:t>Matplotlib: It is used for creating static, interactive, and animated visualizations in Python</a:t>
            </a:r>
            <a:endParaRPr sz="1700">
              <a:solidFill>
                <a:schemeClr val="dk1"/>
              </a:solidFill>
              <a:latin typeface="Aharoni"/>
              <a:ea typeface="Aharoni"/>
              <a:cs typeface="Aharoni"/>
              <a:sym typeface="Aharoni"/>
            </a:endParaRPr>
          </a:p>
          <a:p>
            <a:pPr indent="0" lvl="0" marL="0" rtl="0" algn="l">
              <a:lnSpc>
                <a:spcPct val="150000"/>
              </a:lnSpc>
              <a:spcBef>
                <a:spcPts val="1000"/>
              </a:spcBef>
              <a:spcAft>
                <a:spcPts val="0"/>
              </a:spcAft>
              <a:buClr>
                <a:schemeClr val="dk1"/>
              </a:buClr>
              <a:buSzPts val="1100"/>
              <a:buFont typeface="Arial"/>
              <a:buNone/>
            </a:pPr>
            <a:r>
              <a:rPr lang="en-US" sz="1800">
                <a:solidFill>
                  <a:srgbClr val="4D63C3"/>
                </a:solidFill>
              </a:rPr>
              <a:t>Ø</a:t>
            </a:r>
            <a:r>
              <a:rPr lang="en-US" sz="1700">
                <a:solidFill>
                  <a:schemeClr val="dk1"/>
                </a:solidFill>
                <a:latin typeface="Aharoni"/>
                <a:ea typeface="Aharoni"/>
                <a:cs typeface="Aharoni"/>
                <a:sym typeface="Aharoni"/>
              </a:rPr>
              <a:t>Seaborn: Seaborn is a Python library for data visualization based on Matplotlib.</a:t>
            </a:r>
            <a:endParaRPr sz="1700">
              <a:solidFill>
                <a:schemeClr val="dk1"/>
              </a:solidFill>
              <a:latin typeface="Aharoni"/>
              <a:ea typeface="Aharoni"/>
              <a:cs typeface="Aharoni"/>
              <a:sym typeface="Aharoni"/>
            </a:endParaRPr>
          </a:p>
          <a:p>
            <a:pPr indent="0" lvl="0" marL="114300" rtl="0" algn="l">
              <a:lnSpc>
                <a:spcPct val="150000"/>
              </a:lnSpc>
              <a:spcBef>
                <a:spcPts val="1000"/>
              </a:spcBef>
              <a:spcAft>
                <a:spcPts val="0"/>
              </a:spcAft>
              <a:buClr>
                <a:schemeClr val="dk1"/>
              </a:buClr>
              <a:buSzPts val="1100"/>
              <a:buFont typeface="Arial"/>
              <a:buNone/>
            </a:pPr>
            <a:r>
              <a:rPr lang="en-US" sz="1700">
                <a:solidFill>
                  <a:schemeClr val="dk1"/>
                </a:solidFill>
                <a:latin typeface="Aharoni"/>
                <a:ea typeface="Aharoni"/>
                <a:cs typeface="Aharoni"/>
                <a:sym typeface="Aharoni"/>
              </a:rPr>
              <a:t>We used the above libraries because Together, they provide a comprehensive toolkit for data manipulation, analysis, visualization, and modeling</a:t>
            </a:r>
            <a:r>
              <a:rPr lang="en-US" sz="1700">
                <a:solidFill>
                  <a:srgbClr val="374151"/>
                </a:solidFill>
                <a:latin typeface="Aharoni"/>
                <a:ea typeface="Aharoni"/>
                <a:cs typeface="Aharoni"/>
                <a:sym typeface="Aharoni"/>
              </a:rPr>
              <a:t>.</a:t>
            </a:r>
            <a:endParaRPr sz="1700">
              <a:solidFill>
                <a:srgbClr val="374151"/>
              </a:solidFill>
              <a:latin typeface="Aharoni"/>
              <a:ea typeface="Aharoni"/>
              <a:cs typeface="Aharoni"/>
              <a:sym typeface="Aharoni"/>
            </a:endParaRPr>
          </a:p>
          <a:p>
            <a:pPr indent="0" lvl="0" marL="0" rtl="0" algn="l">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38c18aa5c8_0_13"/>
          <p:cNvSpPr txBox="1"/>
          <p:nvPr>
            <p:ph type="title"/>
          </p:nvPr>
        </p:nvSpPr>
        <p:spPr>
          <a:xfrm>
            <a:off x="989400" y="395289"/>
            <a:ext cx="10213200" cy="111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a:t>EVALUATION</a:t>
            </a:r>
            <a:endParaRPr b="1"/>
          </a:p>
        </p:txBody>
      </p:sp>
      <p:sp>
        <p:nvSpPr>
          <p:cNvPr id="228" name="Google Shape;228;g238c18aa5c8_0_13"/>
          <p:cNvSpPr txBox="1"/>
          <p:nvPr/>
        </p:nvSpPr>
        <p:spPr>
          <a:xfrm>
            <a:off x="1052275" y="1983625"/>
            <a:ext cx="10147800" cy="30870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800">
              <a:latin typeface="Avenir"/>
              <a:ea typeface="Avenir"/>
              <a:cs typeface="Avenir"/>
              <a:sym typeface="Avenir"/>
            </a:endParaRPr>
          </a:p>
          <a:p>
            <a:pPr indent="0" lvl="0" marL="0" rtl="0" algn="l">
              <a:spcBef>
                <a:spcPts val="0"/>
              </a:spcBef>
              <a:spcAft>
                <a:spcPts val="0"/>
              </a:spcAft>
              <a:buClr>
                <a:schemeClr val="dk1"/>
              </a:buClr>
              <a:buSzPts val="1100"/>
              <a:buFont typeface="Arial"/>
              <a:buNone/>
            </a:pPr>
            <a:r>
              <a:rPr lang="en-US" sz="2100">
                <a:latin typeface="Avenir"/>
                <a:ea typeface="Avenir"/>
                <a:cs typeface="Avenir"/>
                <a:sym typeface="Avenir"/>
              </a:rPr>
              <a:t>We learned to detect Coupon Purchase Prediction using Machine Learning using various factors. We have used Random Forest and N</a:t>
            </a:r>
            <a:r>
              <a:rPr lang="en-US" sz="2100">
                <a:latin typeface="Avenir"/>
                <a:ea typeface="Avenir"/>
                <a:cs typeface="Avenir"/>
                <a:sym typeface="Avenir"/>
              </a:rPr>
              <a:t>aive</a:t>
            </a:r>
            <a:r>
              <a:rPr lang="en-US" sz="2100">
                <a:latin typeface="Avenir"/>
                <a:ea typeface="Avenir"/>
                <a:cs typeface="Avenir"/>
                <a:sym typeface="Avenir"/>
              </a:rPr>
              <a:t> Bayes, and  among them we got highest accuracy for Random Forest. We got an accuracy of 99.6% using Random Forest with Cross validation.</a:t>
            </a:r>
            <a:endParaRPr sz="2100">
              <a:latin typeface="Avenir"/>
              <a:ea typeface="Avenir"/>
              <a:cs typeface="Avenir"/>
              <a:sym typeface="Avenir"/>
            </a:endParaRPr>
          </a:p>
          <a:p>
            <a:pPr indent="0" lvl="0" marL="0" rtl="0" algn="l">
              <a:spcBef>
                <a:spcPts val="0"/>
              </a:spcBef>
              <a:spcAft>
                <a:spcPts val="0"/>
              </a:spcAft>
              <a:buClr>
                <a:schemeClr val="dk1"/>
              </a:buClr>
              <a:buSzPts val="1100"/>
              <a:buFont typeface="Arial"/>
              <a:buNone/>
            </a:pPr>
            <a:r>
              <a:t/>
            </a:r>
            <a:endParaRPr sz="2100">
              <a:latin typeface="Avenir"/>
              <a:ea typeface="Avenir"/>
              <a:cs typeface="Avenir"/>
              <a:sym typeface="Avenir"/>
            </a:endParaRPr>
          </a:p>
          <a:p>
            <a:pPr indent="0" lvl="0" marL="0" rtl="0" algn="l">
              <a:spcBef>
                <a:spcPts val="0"/>
              </a:spcBef>
              <a:spcAft>
                <a:spcPts val="0"/>
              </a:spcAft>
              <a:buClr>
                <a:schemeClr val="dk1"/>
              </a:buClr>
              <a:buSzPts val="1100"/>
              <a:buFont typeface="Arial"/>
              <a:buNone/>
            </a:pPr>
            <a:r>
              <a:rPr b="1" lang="en-US" sz="3200">
                <a:solidFill>
                  <a:schemeClr val="dk1"/>
                </a:solidFill>
                <a:latin typeface="Sorts Mill Goudy"/>
                <a:ea typeface="Sorts Mill Goudy"/>
                <a:cs typeface="Sorts Mill Goudy"/>
                <a:sym typeface="Sorts Mill Goudy"/>
              </a:rPr>
              <a:t>Project Demo:</a:t>
            </a:r>
            <a:endParaRPr sz="2100">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1700" u="sng">
                <a:solidFill>
                  <a:srgbClr val="1155CC"/>
                </a:solidFill>
                <a:hlinkClick r:id="rId3">
                  <a:extLst>
                    <a:ext uri="{A12FA001-AC4F-418D-AE19-62706E023703}">
                      <ahyp:hlinkClr val="tx"/>
                    </a:ext>
                  </a:extLst>
                </a:hlinkClick>
              </a:rPr>
              <a:t>https://github.com/deepika1294/coupon_purchase_prediction</a:t>
            </a:r>
            <a:endParaRPr sz="2700">
              <a:latin typeface="Avenir"/>
              <a:ea typeface="Avenir"/>
              <a:cs typeface="Avenir"/>
              <a:sym typeface="Avenir"/>
            </a:endParaRPr>
          </a:p>
          <a:p>
            <a:pPr indent="0" lvl="0" marL="0" rtl="0" algn="l">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238c18aa5c8_0_17"/>
          <p:cNvSpPr txBox="1"/>
          <p:nvPr>
            <p:ph type="title"/>
          </p:nvPr>
        </p:nvSpPr>
        <p:spPr>
          <a:xfrm>
            <a:off x="989400" y="395289"/>
            <a:ext cx="10213200" cy="111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b="1" lang="en-US"/>
              <a:t>REFERENCES</a:t>
            </a:r>
            <a:endParaRPr/>
          </a:p>
        </p:txBody>
      </p:sp>
      <p:sp>
        <p:nvSpPr>
          <p:cNvPr id="234" name="Google Shape;234;g238c18aa5c8_0_17"/>
          <p:cNvSpPr txBox="1"/>
          <p:nvPr/>
        </p:nvSpPr>
        <p:spPr>
          <a:xfrm>
            <a:off x="1003900" y="1959425"/>
            <a:ext cx="10196400" cy="3189300"/>
          </a:xfrm>
          <a:prstGeom prst="rect">
            <a:avLst/>
          </a:prstGeom>
          <a:noFill/>
          <a:ln>
            <a:noFill/>
          </a:ln>
        </p:spPr>
        <p:txBody>
          <a:bodyPr anchorCtr="0" anchor="t" bIns="91425" lIns="91425" spcFirstLastPara="1" rIns="91425" wrap="square" tIns="91425">
            <a:spAutoFit/>
          </a:bodyPr>
          <a:lstStyle/>
          <a:p>
            <a:pPr indent="-342900" lvl="0" marL="457200" rtl="0" algn="just">
              <a:lnSpc>
                <a:spcPct val="105000"/>
              </a:lnSpc>
              <a:spcBef>
                <a:spcPts val="1200"/>
              </a:spcBef>
              <a:spcAft>
                <a:spcPts val="0"/>
              </a:spcAft>
              <a:buClr>
                <a:schemeClr val="dk1"/>
              </a:buClr>
              <a:buSzPts val="1800"/>
              <a:buChar char="●"/>
            </a:pPr>
            <a:r>
              <a:rPr lang="en-US" sz="1800">
                <a:solidFill>
                  <a:schemeClr val="dk1"/>
                </a:solidFill>
              </a:rPr>
              <a:t>Euiho Suh, Seungjae Lim, Hyunseok Hwang and Su-Yeon Kim - A prediction model for the coupon purchase probability of anonymous customers to support real time web marketing:a case study. Published in expert Syst.Appl.2004 DOI :10.1016/j.eswa.2004.01.2008</a:t>
            </a:r>
            <a:endParaRPr sz="1800">
              <a:solidFill>
                <a:schemeClr val="dk1"/>
              </a:solidFill>
            </a:endParaRPr>
          </a:p>
          <a:p>
            <a:pPr indent="0" lvl="0" marL="457200" rtl="0" algn="just">
              <a:lnSpc>
                <a:spcPct val="105000"/>
              </a:lnSpc>
              <a:spcBef>
                <a:spcPts val="1200"/>
              </a:spcBef>
              <a:spcAft>
                <a:spcPts val="0"/>
              </a:spcAft>
              <a:buNone/>
            </a:pPr>
            <a:r>
              <a:t/>
            </a:r>
            <a:endParaRPr sz="1800">
              <a:solidFill>
                <a:schemeClr val="dk1"/>
              </a:solidFill>
            </a:endParaRPr>
          </a:p>
          <a:p>
            <a:pPr indent="-342900" lvl="0" marL="457200" rtl="0" algn="just">
              <a:lnSpc>
                <a:spcPct val="105000"/>
              </a:lnSpc>
              <a:spcBef>
                <a:spcPts val="1200"/>
              </a:spcBef>
              <a:spcAft>
                <a:spcPts val="0"/>
              </a:spcAft>
              <a:buClr>
                <a:schemeClr val="dk1"/>
              </a:buClr>
              <a:buSzPts val="1800"/>
              <a:buChar char="●"/>
            </a:pPr>
            <a:r>
              <a:rPr lang="en-US" sz="1800">
                <a:solidFill>
                  <a:schemeClr val="dk1"/>
                </a:solidFill>
              </a:rPr>
              <a:t>Jiawei He and Wenjun Jiang - Understanding Users' Coupon Usage Behaviors in E-Commerce Environments. Date of Conference: 12-15 Dec. 2017 Date Added to IEEE Xplore</a:t>
            </a:r>
            <a:r>
              <a:rPr lang="en-US" sz="1800">
                <a:solidFill>
                  <a:schemeClr val="dk1"/>
                </a:solidFill>
              </a:rPr>
              <a:t>::28 May 2018 INSPEC Accession Number:17804475 DOI:</a:t>
            </a:r>
            <a:r>
              <a:rPr lang="en-US" sz="1800">
                <a:solidFill>
                  <a:schemeClr val="dk1"/>
                </a:solidFill>
              </a:rPr>
              <a:t> 10.1109/ISPA/IUCC.2017.00159</a:t>
            </a:r>
            <a:endParaRPr sz="1800">
              <a:solidFill>
                <a:schemeClr val="dk1"/>
              </a:solidFill>
            </a:endParaRPr>
          </a:p>
          <a:p>
            <a:pPr indent="0" lvl="0" marL="0" rtl="0" algn="l">
              <a:spcBef>
                <a:spcPts val="1200"/>
              </a:spcBef>
              <a:spcAft>
                <a:spcPts val="0"/>
              </a:spcAft>
              <a:buNone/>
            </a:pPr>
            <a:r>
              <a:t/>
            </a:r>
            <a:endParaRPr>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rostyVTI">
  <a:themeElements>
    <a:clrScheme name="AnalogousFromRegularSeedRightStep">
      <a:dk1>
        <a:srgbClr val="000000"/>
      </a:dk1>
      <a:lt1>
        <a:srgbClr val="FFFFFF"/>
      </a:lt1>
      <a:dk2>
        <a:srgbClr val="2E1B30"/>
      </a:dk2>
      <a:lt2>
        <a:srgbClr val="F3F0F0"/>
      </a:lt2>
      <a:accent1>
        <a:srgbClr val="45AFAD"/>
      </a:accent1>
      <a:accent2>
        <a:srgbClr val="3B82B1"/>
      </a:accent2>
      <a:accent3>
        <a:srgbClr val="4D63C3"/>
      </a:accent3>
      <a:accent4>
        <a:srgbClr val="593EB3"/>
      </a:accent4>
      <a:accent5>
        <a:srgbClr val="994DC3"/>
      </a:accent5>
      <a:accent6>
        <a:srgbClr val="B13BAA"/>
      </a:accent6>
      <a:hlink>
        <a:srgbClr val="BF3F42"/>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2023-04-21T17:01:27Z</dcterms:created>
  <dc:creator>MADHULIKA GANGARAJULA</dc:creator>
</cp:coreProperties>
</file>